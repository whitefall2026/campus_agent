
<file path=[Content_Types].xml><?xml version="1.0" encoding="utf-8"?>
<Types xmlns="http://schemas.openxmlformats.org/package/2006/content-types">
  <Default Extension="bmp" ContentType="image/bmp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ebp" ContentType="image/webp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center-title"/>
          <p:cNvSpPr/>
          <p:nvPr>
            <p:ph type="ctrTitle"/>
          </p:nvPr>
        </p:nvSpPr>
        <p:spPr>
          <a:xfrm>
            <a:off x="609600" y="1920240"/>
            <a:ext cx="10972800" cy="127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subtitle"/>
          <p:cNvSpPr/>
          <p:nvPr>
            <p:ph type="subTitle"/>
          </p:nvPr>
        </p:nvSpPr>
        <p:spPr>
          <a:xfrm>
            <a:off x="609600" y="339344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body"/>
          <p:cNvSpPr/>
          <p:nvPr>
            <p:ph type="body"/>
          </p:nvPr>
        </p:nvSpPr>
        <p:spPr>
          <a:xfrm>
            <a:off x="609600" y="1625600"/>
            <a:ext cx="10972800" cy="482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center-title"/>
          <p:cNvSpPr/>
          <p:nvPr>
            <p:ph type="ctrTitle"/>
          </p:nvPr>
        </p:nvSpPr>
        <p:spPr>
          <a:xfrm>
            <a:off x="609600" y="1714500"/>
            <a:ext cx="10972800" cy="127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text"/>
          <p:cNvSpPr/>
          <p:nvPr>
            <p:ph type="body"/>
          </p:nvPr>
        </p:nvSpPr>
        <p:spPr>
          <a:xfrm>
            <a:off x="609600" y="31877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body-left"/>
          <p:cNvSpPr/>
          <p:nvPr>
            <p:ph type="body" idx="1"/>
          </p:nvPr>
        </p:nvSpPr>
        <p:spPr>
          <a:xfrm>
            <a:off x="609600" y="1625600"/>
            <a:ext cx="5359400" cy="482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ph-body-right"/>
          <p:cNvSpPr/>
          <p:nvPr>
            <p:ph type="body" idx="2"/>
          </p:nvPr>
        </p:nvSpPr>
        <p:spPr>
          <a:xfrm>
            <a:off x="6223000" y="1625600"/>
            <a:ext cx="5359400" cy="482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text-left"/>
          <p:cNvSpPr/>
          <p:nvPr>
            <p:ph type="body" idx="1"/>
          </p:nvPr>
        </p:nvSpPr>
        <p:spPr>
          <a:xfrm>
            <a:off x="609600" y="1625600"/>
            <a:ext cx="5359400" cy="50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ph-text-right"/>
          <p:cNvSpPr/>
          <p:nvPr>
            <p:ph type="body" idx="2"/>
          </p:nvPr>
        </p:nvSpPr>
        <p:spPr>
          <a:xfrm>
            <a:off x="6223000" y="1625600"/>
            <a:ext cx="5359400" cy="50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5" name="ph-body-left"/>
          <p:cNvSpPr/>
          <p:nvPr>
            <p:ph type="body" idx="1"/>
          </p:nvPr>
        </p:nvSpPr>
        <p:spPr>
          <a:xfrm>
            <a:off x="609600" y="2235200"/>
            <a:ext cx="5359400" cy="421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6" name="ph-body-right"/>
          <p:cNvSpPr/>
          <p:nvPr>
            <p:ph type="body" idx="2"/>
          </p:nvPr>
        </p:nvSpPr>
        <p:spPr>
          <a:xfrm>
            <a:off x="6223000" y="2235200"/>
            <a:ext cx="5359400" cy="421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picture"/>
          <p:cNvSpPr/>
          <p:nvPr>
            <p:ph type="pic"/>
          </p:nvPr>
        </p:nvSpPr>
        <p:spPr>
          <a:xfrm>
            <a:off x="609600" y="406400"/>
            <a:ext cx="10972800" cy="4927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caption"/>
          <p:cNvSpPr/>
          <p:nvPr>
            <p:ph type="body"/>
          </p:nvPr>
        </p:nvSpPr>
        <p:spPr>
          <a:xfrm>
            <a:off x="609600" y="55372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32F6B"/>
              </a:gs>
              <a:gs pos="55000">
                <a:srgbClr val="3A4BC9"/>
              </a:gs>
              <a:gs pos="100000">
                <a:srgbClr val="6A48D8"/>
              </a:gs>
            </a:gsLst>
            <a:lin ang="366000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ellipse 1"/>
          <p:cNvSpPr/>
          <p:nvPr/>
        </p:nvSpPr>
        <p:spPr>
          <a:xfrm>
            <a:off x="9144000" y="-1143000"/>
            <a:ext cx="3810000" cy="3810000"/>
          </a:xfrm>
          <a:prstGeom prst="ellipse">
            <a:avLst/>
          </a:prstGeom>
          <a:solidFill>
            <a:srgbClr val="5163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llipse 2"/>
          <p:cNvSpPr/>
          <p:nvPr/>
        </p:nvSpPr>
        <p:spPr>
          <a:xfrm>
            <a:off x="11049000" y="-381000"/>
            <a:ext cx="1778000" cy="1778000"/>
          </a:xfrm>
          <a:prstGeom prst="ellipse">
            <a:avLst/>
          </a:prstGeom>
          <a:solidFill>
            <a:srgbClr val="6A48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ellipse 3"/>
          <p:cNvSpPr/>
          <p:nvPr/>
        </p:nvSpPr>
        <p:spPr>
          <a:xfrm>
            <a:off x="-863600" y="4445000"/>
            <a:ext cx="3048000" cy="3048000"/>
          </a:xfrm>
          <a:prstGeom prst="ellipse">
            <a:avLst/>
          </a:prstGeom>
          <a:solidFill>
            <a:srgbClr val="31409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ellipse 4"/>
          <p:cNvSpPr/>
          <p:nvPr/>
        </p:nvSpPr>
        <p:spPr>
          <a:xfrm>
            <a:off x="-584200" y="5765800"/>
            <a:ext cx="1371600" cy="1371600"/>
          </a:xfrm>
          <a:prstGeom prst="ellipse">
            <a:avLst/>
          </a:prstGeom>
          <a:solidFill>
            <a:srgbClr val="5163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ellipse 5"/>
          <p:cNvSpPr/>
          <p:nvPr/>
        </p:nvSpPr>
        <p:spPr>
          <a:xfrm>
            <a:off x="1905000" y="6223000"/>
            <a:ext cx="762000" cy="762000"/>
          </a:xfrm>
          <a:prstGeom prst="ellipse">
            <a:avLst/>
          </a:prstGeom>
          <a:solidFill>
            <a:srgbClr val="243A8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ellipse 6"/>
          <p:cNvSpPr/>
          <p:nvPr/>
        </p:nvSpPr>
        <p:spPr>
          <a:xfrm>
            <a:off x="9271000" y="5207000"/>
            <a:ext cx="2286000" cy="2286000"/>
          </a:xfrm>
          <a:prstGeom prst="ellipse">
            <a:avLst/>
          </a:prstGeom>
          <a:solidFill>
            <a:srgbClr val="2E3A8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Rect 1"/>
          <p:cNvSpPr/>
          <p:nvPr/>
        </p:nvSpPr>
        <p:spPr>
          <a:xfrm>
            <a:off x="457200" y="381000"/>
            <a:ext cx="2667000" cy="508000"/>
          </a:xfrm>
          <a:prstGeom prst="roundRect">
            <a:avLst>
              <a:gd fmla="val 50000" name="adj"/>
            </a:avLst>
          </a:prstGeom>
          <a:gradFill rotWithShape="1">
            <a:gsLst>
              <a:gs pos="0">
                <a:srgbClr val="4F6EF7"/>
              </a:gs>
              <a:gs pos="100000">
                <a:srgbClr val="7B5CF0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 2"/>
          <p:cNvSpPr/>
          <p:nvPr/>
        </p:nvSpPr>
        <p:spPr>
          <a:xfrm>
            <a:off x="996950" y="495300"/>
            <a:ext cx="15875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3000"/>
              </a:lnSpc>
            </a:pPr>
            <a:r>
              <a:rPr lang="zh-CN" sz="1700" b="1">
                <a:solidFill>
                  <a:srgbClr val="FFFFFF"/>
                </a:solidFill>
                <a:latin typeface="'PingFang SC'"/>
                <a:ea typeface="'PingFang SC'"/>
              </a:rPr>
              <a:t>411 · 伴学计划</a:t>
            </a:r>
          </a:p>
        </p:txBody>
      </p:sp>
      <p:sp>
        <p:nvSpPr>
          <p:cNvPr id="11" name="rect 3"/>
          <p:cNvSpPr/>
          <p:nvPr/>
        </p:nvSpPr>
        <p:spPr>
          <a:xfrm>
            <a:off x="8877300" y="495300"/>
            <a:ext cx="28575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91000"/>
              </a:lnSpc>
            </a:pPr>
            <a:r>
              <a:rPr lang="zh-CN" sz="1600" b="1">
                <a:solidFill>
                  <a:srgbClr val="DDE2FF"/>
                </a:solidFill>
                <a:latin typeface="'PingFang SC'"/>
                <a:ea typeface="'PingFang SC'"/>
              </a:rPr>
              <a:t>campus_agent · 开源 Demo</a:t>
            </a:r>
          </a:p>
        </p:txBody>
      </p:sp>
      <p:sp>
        <p:nvSpPr>
          <p:cNvPr id="12" name="rect 4"/>
          <p:cNvSpPr/>
          <p:nvPr/>
        </p:nvSpPr>
        <p:spPr>
          <a:xfrm>
            <a:off x="4927600" y="1308100"/>
            <a:ext cx="2336800" cy="330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1000"/>
              </a:lnSpc>
            </a:pPr>
            <a:r>
              <a:rPr lang="zh-CN" sz="2200" b="1">
                <a:solidFill>
                  <a:srgbClr val="BCC6FF"/>
                </a:solidFill>
                <a:latin typeface="'PingFang SC'"/>
                <a:ea typeface="'PingFang SC'"/>
              </a:rPr>
              <a:t>校园日程智能助手</a:t>
            </a:r>
          </a:p>
        </p:txBody>
      </p:sp>
      <p:sp>
        <p:nvSpPr>
          <p:cNvPr id="13" name="rect 5"/>
          <p:cNvSpPr/>
          <p:nvPr/>
        </p:nvSpPr>
        <p:spPr>
          <a:xfrm>
            <a:off x="2965450" y="1587500"/>
            <a:ext cx="6261100" cy="1346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1000"/>
              </a:lnSpc>
            </a:pPr>
            <a:r>
              <a:rPr lang="en-US" sz="8800" b="1">
                <a:solidFill>
                  <a:srgbClr val="FFFFFF"/>
                </a:solidFill>
                <a:latin typeface="'PingFang SC'"/>
                <a:ea typeface="'Microsoft YaHei'"/>
              </a:rPr>
              <a:t>RUC Agent</a:t>
            </a:r>
          </a:p>
        </p:txBody>
      </p:sp>
      <p:sp>
        <p:nvSpPr>
          <p:cNvPr id="14" name="rect 6"/>
          <p:cNvSpPr/>
          <p:nvPr/>
        </p:nvSpPr>
        <p:spPr>
          <a:xfrm>
            <a:off x="2901950" y="3022600"/>
            <a:ext cx="6388100" cy="393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9000"/>
              </a:lnSpc>
            </a:pPr>
            <a:r>
              <a:rPr lang="zh-CN" sz="2600" b="1">
                <a:solidFill>
                  <a:srgbClr val="EEF0FF"/>
                </a:solidFill>
                <a:latin typeface="'PingFang SC'"/>
                <a:ea typeface="'PingFang SC'"/>
              </a:rPr>
              <a:t>说一句 · 转一条，安排自动变成日程与待办</a:t>
            </a:r>
          </a:p>
        </p:txBody>
      </p:sp>
      <p:sp>
        <p:nvSpPr>
          <p:cNvPr id="15" name="rect 7"/>
          <p:cNvSpPr/>
          <p:nvPr/>
        </p:nvSpPr>
        <p:spPr>
          <a:xfrm>
            <a:off x="1885950" y="3759200"/>
            <a:ext cx="8420100" cy="292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1000"/>
              </a:lnSpc>
            </a:pPr>
            <a:r>
              <a:rPr lang="zh-CN" sz="1900">
                <a:solidFill>
                  <a:srgbClr val="D8DDFF"/>
                </a:solidFill>
                <a:latin typeface="'PingFang SC'"/>
                <a:ea typeface="'PingFang SC'"/>
              </a:rPr>
              <a:t>对话与微信里随手记下的安排 → AI 提取为卡片 → 你确认后入库，越用越懂你</a:t>
            </a:r>
          </a:p>
        </p:txBody>
      </p:sp>
      <p:sp>
        <p:nvSpPr>
          <p:cNvPr id="16" name="roundRect 2"/>
          <p:cNvSpPr/>
          <p:nvPr/>
        </p:nvSpPr>
        <p:spPr>
          <a:xfrm>
            <a:off x="2946400" y="4318000"/>
            <a:ext cx="6299200" cy="5842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 8"/>
          <p:cNvSpPr/>
          <p:nvPr/>
        </p:nvSpPr>
        <p:spPr>
          <a:xfrm>
            <a:off x="4311650" y="4406900"/>
            <a:ext cx="3568700" cy="317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3000"/>
              </a:lnSpc>
            </a:pPr>
            <a:r>
              <a:rPr lang="zh-CN" sz="2100" b="1">
                <a:solidFill>
                  <a:srgbClr val="3A4BC9"/>
                </a:solidFill>
                <a:latin typeface="'PingFang SC'"/>
                <a:ea typeface="'PingFang SC'"/>
              </a:rPr>
              <a:t>不让任何一件重要的事被吞没</a:t>
            </a:r>
          </a:p>
        </p:txBody>
      </p:sp>
      <p:sp>
        <p:nvSpPr>
          <p:cNvPr id="18" name="rect 9"/>
          <p:cNvSpPr/>
          <p:nvPr/>
        </p:nvSpPr>
        <p:spPr>
          <a:xfrm>
            <a:off x="5200650" y="5080000"/>
            <a:ext cx="17907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zh-CN" sz="1500">
                <a:solidFill>
                  <a:srgbClr val="C6CCF2"/>
                </a:solidFill>
                <a:latin typeface="'PingFang SC'"/>
                <a:ea typeface="'PingFang SC'"/>
              </a:rPr>
              <a:t>五个页面 · 一个闭环</a:t>
            </a:r>
          </a:p>
        </p:txBody>
      </p:sp>
      <p:sp>
        <p:nvSpPr>
          <p:cNvPr id="19" name="ellipse 7"/>
          <p:cNvSpPr/>
          <p:nvPr/>
        </p:nvSpPr>
        <p:spPr>
          <a:xfrm>
            <a:off x="1816100" y="560070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 10"/>
          <p:cNvSpPr/>
          <p:nvPr/>
        </p:nvSpPr>
        <p:spPr>
          <a:xfrm>
            <a:off x="1892300" y="5791200"/>
            <a:ext cx="5334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3000"/>
              </a:lnSpc>
            </a:pPr>
            <a:r>
              <a:rPr lang="zh-CN" sz="1700" b="1">
                <a:solidFill>
                  <a:srgbClr val="3A4BC9"/>
                </a:solidFill>
                <a:latin typeface="'PingFang SC'"/>
                <a:ea typeface="'PingFang SC'"/>
              </a:rPr>
              <a:t>对话</a:t>
            </a:r>
          </a:p>
        </p:txBody>
      </p:sp>
      <p:sp>
        <p:nvSpPr>
          <p:cNvPr id="21" name="ellipse 8"/>
          <p:cNvSpPr/>
          <p:nvPr/>
        </p:nvSpPr>
        <p:spPr>
          <a:xfrm>
            <a:off x="3721100" y="560070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 11"/>
          <p:cNvSpPr/>
          <p:nvPr/>
        </p:nvSpPr>
        <p:spPr>
          <a:xfrm>
            <a:off x="3797300" y="5791200"/>
            <a:ext cx="5334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3000"/>
              </a:lnSpc>
            </a:pPr>
            <a:r>
              <a:rPr lang="zh-CN" sz="1700" b="1">
                <a:solidFill>
                  <a:srgbClr val="3A4BC9"/>
                </a:solidFill>
                <a:latin typeface="'PingFang SC'"/>
                <a:ea typeface="'PingFang SC'"/>
              </a:rPr>
              <a:t>计划</a:t>
            </a:r>
          </a:p>
        </p:txBody>
      </p:sp>
      <p:sp>
        <p:nvSpPr>
          <p:cNvPr id="23" name="ellipse 9"/>
          <p:cNvSpPr/>
          <p:nvPr/>
        </p:nvSpPr>
        <p:spPr>
          <a:xfrm>
            <a:off x="5626100" y="560070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 12"/>
          <p:cNvSpPr/>
          <p:nvPr/>
        </p:nvSpPr>
        <p:spPr>
          <a:xfrm>
            <a:off x="5702300" y="5791200"/>
            <a:ext cx="5334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3000"/>
              </a:lnSpc>
            </a:pPr>
            <a:r>
              <a:rPr lang="zh-CN" sz="1700" b="1">
                <a:solidFill>
                  <a:srgbClr val="3A4BC9"/>
                </a:solidFill>
                <a:latin typeface="'PingFang SC'"/>
                <a:ea typeface="'PingFang SC'"/>
              </a:rPr>
              <a:t>日程</a:t>
            </a:r>
          </a:p>
        </p:txBody>
      </p:sp>
      <p:sp>
        <p:nvSpPr>
          <p:cNvPr id="25" name="ellipse 10"/>
          <p:cNvSpPr/>
          <p:nvPr/>
        </p:nvSpPr>
        <p:spPr>
          <a:xfrm>
            <a:off x="7531100" y="560070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 13"/>
          <p:cNvSpPr/>
          <p:nvPr/>
        </p:nvSpPr>
        <p:spPr>
          <a:xfrm>
            <a:off x="7607300" y="5791200"/>
            <a:ext cx="5334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3000"/>
              </a:lnSpc>
            </a:pPr>
            <a:r>
              <a:rPr lang="zh-CN" sz="1700" b="1">
                <a:solidFill>
                  <a:srgbClr val="3A4BC9"/>
                </a:solidFill>
                <a:latin typeface="'PingFang SC'"/>
                <a:ea typeface="'PingFang SC'"/>
              </a:rPr>
              <a:t>待办</a:t>
            </a:r>
          </a:p>
        </p:txBody>
      </p:sp>
      <p:sp>
        <p:nvSpPr>
          <p:cNvPr id="27" name="ellipse 11"/>
          <p:cNvSpPr/>
          <p:nvPr/>
        </p:nvSpPr>
        <p:spPr>
          <a:xfrm>
            <a:off x="9436100" y="560070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 14"/>
          <p:cNvSpPr/>
          <p:nvPr/>
        </p:nvSpPr>
        <p:spPr>
          <a:xfrm>
            <a:off x="9512300" y="5791200"/>
            <a:ext cx="5334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3000"/>
              </a:lnSpc>
            </a:pPr>
            <a:r>
              <a:rPr lang="zh-CN" sz="1700" b="1">
                <a:solidFill>
                  <a:srgbClr val="3A4BC9"/>
                </a:solidFill>
                <a:latin typeface="'PingFang SC'"/>
                <a:ea typeface="'PingFang SC'"/>
              </a:rPr>
              <a:t>我的</a:t>
            </a:r>
          </a:p>
        </p:txBody>
      </p:sp>
      <p:cxnSp>
        <p:nvCxnSpPr>
          <p:cNvPr id="29" name="line 1"/>
          <p:cNvCxnSpPr/>
          <p:nvPr/>
        </p:nvCxnSpPr>
        <p:spPr>
          <a:xfrm>
            <a:off x="2501900" y="5937250"/>
            <a:ext cx="1193800" cy="12700"/>
          </a:xfrm>
          <a:prstGeom prst="line">
            <a:avLst/>
          </a:prstGeom>
          <a:noFill/>
          <a:ln w="38100">
            <a:solidFill>
              <a:srgbClr val="C6CCF2"/>
            </a:solidFill>
          </a:ln>
        </p:spPr>
      </p:cxnSp>
      <p:sp>
        <p:nvSpPr>
          <p:cNvPr id="30" name="rect 15"/>
          <p:cNvSpPr/>
          <p:nvPr/>
        </p:nvSpPr>
        <p:spPr>
          <a:xfrm>
            <a:off x="3512820" y="5833110"/>
            <a:ext cx="213360" cy="220980"/>
          </a:xfrm>
          <a:custGeom>
            <a:avLst/>
            <a:gdLst/>
            <a:ahLst/>
            <a:cxnLst/>
            <a:rect l="0" t="0" r="0" b="0"/>
            <a:pathLst>
              <a:path w="17" h="17">
                <a:moveTo>
                  <a:pt x="0" y="0"/>
                </a:moveTo>
                <a:lnTo>
                  <a:pt x="17" y="9"/>
                </a:lnTo>
                <a:lnTo>
                  <a:pt x="0" y="17"/>
                </a:lnTo>
                <a:close/>
              </a:path>
            </a:pathLst>
          </a:custGeom>
          <a:solidFill>
            <a:srgbClr val="C6CC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31" name="line 2"/>
          <p:cNvCxnSpPr/>
          <p:nvPr/>
        </p:nvCxnSpPr>
        <p:spPr>
          <a:xfrm>
            <a:off x="4406900" y="5937250"/>
            <a:ext cx="1193800" cy="12700"/>
          </a:xfrm>
          <a:prstGeom prst="line">
            <a:avLst/>
          </a:prstGeom>
          <a:noFill/>
          <a:ln w="38100">
            <a:solidFill>
              <a:srgbClr val="C6CCF2"/>
            </a:solidFill>
          </a:ln>
        </p:spPr>
      </p:cxnSp>
      <p:sp>
        <p:nvSpPr>
          <p:cNvPr id="32" name="rect 16"/>
          <p:cNvSpPr/>
          <p:nvPr/>
        </p:nvSpPr>
        <p:spPr>
          <a:xfrm>
            <a:off x="5417820" y="5833110"/>
            <a:ext cx="213360" cy="220980"/>
          </a:xfrm>
          <a:custGeom>
            <a:avLst/>
            <a:gdLst/>
            <a:ahLst/>
            <a:cxnLst/>
            <a:rect l="0" t="0" r="0" b="0"/>
            <a:pathLst>
              <a:path w="17" h="17">
                <a:moveTo>
                  <a:pt x="0" y="0"/>
                </a:moveTo>
                <a:lnTo>
                  <a:pt x="17" y="9"/>
                </a:lnTo>
                <a:lnTo>
                  <a:pt x="0" y="17"/>
                </a:lnTo>
                <a:close/>
              </a:path>
            </a:pathLst>
          </a:custGeom>
          <a:solidFill>
            <a:srgbClr val="C6CC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33" name="line 3"/>
          <p:cNvCxnSpPr/>
          <p:nvPr/>
        </p:nvCxnSpPr>
        <p:spPr>
          <a:xfrm>
            <a:off x="6311900" y="5937250"/>
            <a:ext cx="1193800" cy="12700"/>
          </a:xfrm>
          <a:prstGeom prst="line">
            <a:avLst/>
          </a:prstGeom>
          <a:noFill/>
          <a:ln w="38100">
            <a:solidFill>
              <a:srgbClr val="C6CCF2"/>
            </a:solidFill>
          </a:ln>
        </p:spPr>
      </p:cxnSp>
      <p:sp>
        <p:nvSpPr>
          <p:cNvPr id="34" name="rect 17"/>
          <p:cNvSpPr/>
          <p:nvPr/>
        </p:nvSpPr>
        <p:spPr>
          <a:xfrm>
            <a:off x="7322820" y="5833110"/>
            <a:ext cx="213360" cy="220980"/>
          </a:xfrm>
          <a:custGeom>
            <a:avLst/>
            <a:gdLst/>
            <a:ahLst/>
            <a:cxnLst/>
            <a:rect l="0" t="0" r="0" b="0"/>
            <a:pathLst>
              <a:path w="17" h="17">
                <a:moveTo>
                  <a:pt x="0" y="0"/>
                </a:moveTo>
                <a:lnTo>
                  <a:pt x="17" y="9"/>
                </a:lnTo>
                <a:lnTo>
                  <a:pt x="0" y="17"/>
                </a:lnTo>
                <a:close/>
              </a:path>
            </a:pathLst>
          </a:custGeom>
          <a:solidFill>
            <a:srgbClr val="C6CC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35" name="line 4"/>
          <p:cNvCxnSpPr/>
          <p:nvPr/>
        </p:nvCxnSpPr>
        <p:spPr>
          <a:xfrm>
            <a:off x="8216900" y="5937250"/>
            <a:ext cx="1193800" cy="12700"/>
          </a:xfrm>
          <a:prstGeom prst="line">
            <a:avLst/>
          </a:prstGeom>
          <a:noFill/>
          <a:ln w="38100">
            <a:solidFill>
              <a:srgbClr val="C6CCF2"/>
            </a:solidFill>
          </a:ln>
        </p:spPr>
      </p:cxnSp>
      <p:sp>
        <p:nvSpPr>
          <p:cNvPr id="36" name="rect 18"/>
          <p:cNvSpPr/>
          <p:nvPr/>
        </p:nvSpPr>
        <p:spPr>
          <a:xfrm>
            <a:off x="9227820" y="5833110"/>
            <a:ext cx="213360" cy="220980"/>
          </a:xfrm>
          <a:custGeom>
            <a:avLst/>
            <a:gdLst/>
            <a:ahLst/>
            <a:cxnLst/>
            <a:rect l="0" t="0" r="0" b="0"/>
            <a:pathLst>
              <a:path w="17" h="17">
                <a:moveTo>
                  <a:pt x="0" y="0"/>
                </a:moveTo>
                <a:lnTo>
                  <a:pt x="17" y="9"/>
                </a:lnTo>
                <a:lnTo>
                  <a:pt x="0" y="17"/>
                </a:lnTo>
                <a:close/>
              </a:path>
            </a:pathLst>
          </a:custGeom>
          <a:solidFill>
            <a:srgbClr val="C6CC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 19"/>
          <p:cNvSpPr/>
          <p:nvPr/>
        </p:nvSpPr>
        <p:spPr>
          <a:xfrm>
            <a:off x="4921250" y="6438900"/>
            <a:ext cx="23495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1000"/>
              </a:lnSpc>
            </a:pPr>
            <a:r>
              <a:rPr lang="zh-CN" sz="1600" b="1">
                <a:solidFill>
                  <a:srgbClr val="DDE2FF"/>
                </a:solidFill>
                <a:latin typeface="'PingFang SC'"/>
                <a:ea typeface="'PingFang SC'"/>
              </a:rPr>
              <a:t>贺奕锴 · 孙若瑜 · 冯冠瑀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1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oundRect 1"/>
          <p:cNvSpPr/>
          <p:nvPr/>
        </p:nvSpPr>
        <p:spPr>
          <a:xfrm>
            <a:off x="457200" y="381000"/>
            <a:ext cx="2235200" cy="431800"/>
          </a:xfrm>
          <a:prstGeom prst="roundRect">
            <a:avLst>
              <a:gd fmla="val 50000" name="adj"/>
            </a:avLst>
          </a:prstGeom>
          <a:solidFill>
            <a:srgbClr val="E3E8F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 2"/>
          <p:cNvSpPr/>
          <p:nvPr/>
        </p:nvSpPr>
        <p:spPr>
          <a:xfrm>
            <a:off x="952500" y="469900"/>
            <a:ext cx="1244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zh-CN" sz="1500" b="1">
                <a:solidFill>
                  <a:srgbClr val="4F6EF7"/>
                </a:solidFill>
                <a:latin typeface="'PingFang SC'"/>
                <a:ea typeface="'PingFang SC'"/>
              </a:rPr>
              <a:t>为什么需要它</a:t>
            </a:r>
          </a:p>
        </p:txBody>
      </p:sp>
      <p:sp>
        <p:nvSpPr>
          <p:cNvPr id="5" name="rect 3"/>
          <p:cNvSpPr/>
          <p:nvPr/>
        </p:nvSpPr>
        <p:spPr>
          <a:xfrm>
            <a:off x="457200" y="838200"/>
            <a:ext cx="6959600" cy="546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</a:pPr>
            <a:r>
              <a:rPr lang="zh-CN" sz="3600" b="1">
                <a:solidFill>
                  <a:srgbClr val="1D2433"/>
                </a:solidFill>
                <a:latin typeface="'PingFang SC'"/>
                <a:ea typeface="'PingFang SC'"/>
              </a:rPr>
              <a:t>安排散落在各处，靠人脑迟早会漏</a:t>
            </a:r>
          </a:p>
        </p:txBody>
      </p:sp>
      <p:sp>
        <p:nvSpPr>
          <p:cNvPr id="6" name="rect 4"/>
          <p:cNvSpPr/>
          <p:nvPr/>
        </p:nvSpPr>
        <p:spPr>
          <a:xfrm>
            <a:off x="457200" y="1511300"/>
            <a:ext cx="68453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1000"/>
              </a:lnSpc>
            </a:pPr>
            <a:r>
              <a:rPr lang="zh-CN" sz="1600">
                <a:solidFill>
                  <a:srgbClr val="66708A"/>
                </a:solidFill>
                <a:latin typeface="'PingFang SC'"/>
                <a:ea typeface="'PingFang SC'"/>
              </a:rPr>
              <a:t>不是「又一个日历」的问题——是信息进来与离开的方式，从根上就是碎的</a:t>
            </a:r>
          </a:p>
        </p:txBody>
      </p:sp>
      <p:sp>
        <p:nvSpPr>
          <p:cNvPr id="7" name="roundRect 2"/>
          <p:cNvSpPr/>
          <p:nvPr/>
        </p:nvSpPr>
        <p:spPr>
          <a:xfrm>
            <a:off x="457200" y="2133600"/>
            <a:ext cx="3606800" cy="342900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w="12700">
            <a:solidFill>
              <a:srgbClr val="E4E8F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oundRect 3"/>
          <p:cNvSpPr/>
          <p:nvPr/>
        </p:nvSpPr>
        <p:spPr>
          <a:xfrm>
            <a:off x="457200" y="2133600"/>
            <a:ext cx="3606800" cy="8890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Rect 4"/>
          <p:cNvSpPr/>
          <p:nvPr/>
        </p:nvSpPr>
        <p:spPr>
          <a:xfrm>
            <a:off x="787400" y="2489200"/>
            <a:ext cx="584200" cy="431800"/>
          </a:xfrm>
          <a:prstGeom prst="roundRect">
            <a:avLst>
              <a:gd fmla="val 29412" name="adj"/>
            </a:avLst>
          </a:prstGeom>
          <a:solidFill>
            <a:srgbClr val="FDF3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oundRect 5"/>
          <p:cNvSpPr/>
          <p:nvPr/>
        </p:nvSpPr>
        <p:spPr>
          <a:xfrm>
            <a:off x="914400" y="2590800"/>
            <a:ext cx="330200" cy="63500"/>
          </a:xfrm>
          <a:prstGeom prst="roundRect">
            <a:avLst>
              <a:gd fmla="val 50000" name="adj"/>
            </a:avLst>
          </a:prstGeom>
          <a:solidFill>
            <a:srgbClr val="D9A9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oundRect 6"/>
          <p:cNvSpPr/>
          <p:nvPr/>
        </p:nvSpPr>
        <p:spPr>
          <a:xfrm>
            <a:off x="914400" y="2717800"/>
            <a:ext cx="228600" cy="63500"/>
          </a:xfrm>
          <a:prstGeom prst="roundRect">
            <a:avLst>
              <a:gd fmla="val 50000" name="adj"/>
            </a:avLst>
          </a:prstGeom>
          <a:solidFill>
            <a:srgbClr val="D9A9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ellipse 1"/>
          <p:cNvSpPr/>
          <p:nvPr/>
        </p:nvSpPr>
        <p:spPr>
          <a:xfrm>
            <a:off x="1231900" y="2870200"/>
            <a:ext cx="101600" cy="1016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ellipse 2"/>
          <p:cNvSpPr/>
          <p:nvPr/>
        </p:nvSpPr>
        <p:spPr>
          <a:xfrm>
            <a:off x="1358900" y="2489200"/>
            <a:ext cx="431800" cy="431800"/>
          </a:xfrm>
          <a:prstGeom prst="ellipse">
            <a:avLst/>
          </a:prstGeom>
          <a:solidFill>
            <a:srgbClr val="FDEED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 5"/>
          <p:cNvSpPr/>
          <p:nvPr/>
        </p:nvSpPr>
        <p:spPr>
          <a:xfrm>
            <a:off x="1428750" y="2578100"/>
            <a:ext cx="2921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zh-CN" sz="1500" b="1">
                <a:solidFill>
                  <a:srgbClr val="C07F14"/>
                </a:solidFill>
                <a:latin typeface="'PingFang SC'"/>
                <a:ea typeface="'PingFang SC'"/>
              </a:rPr>
              <a:t>群</a:t>
            </a:r>
          </a:p>
        </p:txBody>
      </p:sp>
      <p:sp>
        <p:nvSpPr>
          <p:cNvPr id="15" name="rect 6"/>
          <p:cNvSpPr/>
          <p:nvPr/>
        </p:nvSpPr>
        <p:spPr>
          <a:xfrm>
            <a:off x="787400" y="3124200"/>
            <a:ext cx="1790700" cy="292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1000"/>
              </a:lnSpc>
            </a:pPr>
            <a:r>
              <a:rPr lang="zh-CN" sz="1900" b="1">
                <a:solidFill>
                  <a:srgbClr val="1D2433"/>
                </a:solidFill>
                <a:latin typeface="'PingFang SC'"/>
                <a:ea typeface="'PingFang SC'"/>
              </a:rPr>
              <a:t>安排散落在各处</a:t>
            </a:r>
          </a:p>
        </p:txBody>
      </p:sp>
      <p:sp>
        <p:nvSpPr>
          <p:cNvPr id="16" name="rect 7"/>
          <p:cNvSpPr/>
          <p:nvPr/>
        </p:nvSpPr>
        <p:spPr>
          <a:xfrm>
            <a:off x="787400" y="3543300"/>
            <a:ext cx="28702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</a:pPr>
            <a:r>
              <a:rPr lang="zh-CN" sz="1451">
                <a:solidFill>
                  <a:srgbClr val="4A5468"/>
                </a:solidFill>
                <a:latin typeface="'PingFang SC'"/>
                <a:ea typeface="'PingFang SC'"/>
              </a:rPr>
              <a:t>微信群里一条公告、随口一句话、</a:t>
            </a:r>
          </a:p>
        </p:txBody>
      </p:sp>
      <p:sp>
        <p:nvSpPr>
          <p:cNvPr id="17" name="rect 8"/>
          <p:cNvSpPr/>
          <p:nvPr/>
        </p:nvSpPr>
        <p:spPr>
          <a:xfrm>
            <a:off x="787400" y="3797300"/>
            <a:ext cx="23368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</a:pPr>
            <a:r>
              <a:rPr lang="zh-CN" sz="1451">
                <a:solidFill>
                  <a:srgbClr val="4A5468"/>
                </a:solidFill>
                <a:latin typeface="'PingFang SC'"/>
                <a:ea typeface="'PingFang SC'"/>
              </a:rPr>
              <a:t>文件传输助手里的通知——</a:t>
            </a:r>
          </a:p>
        </p:txBody>
      </p:sp>
      <p:sp>
        <p:nvSpPr>
          <p:cNvPr id="18" name="rect 9"/>
          <p:cNvSpPr/>
          <p:nvPr/>
        </p:nvSpPr>
        <p:spPr>
          <a:xfrm>
            <a:off x="787400" y="4051300"/>
            <a:ext cx="21336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</a:pPr>
            <a:r>
              <a:rPr lang="zh-CN" sz="1451">
                <a:solidFill>
                  <a:srgbClr val="4A5468"/>
                </a:solidFill>
                <a:latin typeface="'PingFang SC'"/>
                <a:ea typeface="'PingFang SC'"/>
              </a:rPr>
              <a:t>转身就忘，再也想不起来</a:t>
            </a:r>
          </a:p>
        </p:txBody>
      </p:sp>
      <p:sp>
        <p:nvSpPr>
          <p:cNvPr id="19" name="rect 10"/>
          <p:cNvSpPr/>
          <p:nvPr/>
        </p:nvSpPr>
        <p:spPr>
          <a:xfrm>
            <a:off x="787400" y="4495800"/>
            <a:ext cx="27559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351">
                <a:solidFill>
                  <a:srgbClr val="8A94A8"/>
                </a:solidFill>
                <a:latin typeface="'PingFang SC'"/>
                <a:ea typeface="'PingFang SC'"/>
              </a:rPr>
              <a:t>口头约定 · 群公告 · 转发 · 脑内备忘</a:t>
            </a:r>
          </a:p>
        </p:txBody>
      </p:sp>
      <p:sp>
        <p:nvSpPr>
          <p:cNvPr id="20" name="roundRect 7"/>
          <p:cNvSpPr/>
          <p:nvPr/>
        </p:nvSpPr>
        <p:spPr>
          <a:xfrm>
            <a:off x="787400" y="4902200"/>
            <a:ext cx="2946400" cy="381000"/>
          </a:xfrm>
          <a:prstGeom prst="roundRect">
            <a:avLst>
              <a:gd fmla="val 26667" name="adj"/>
            </a:avLst>
          </a:prstGeom>
          <a:solidFill>
            <a:srgbClr val="FDF3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 11"/>
          <p:cNvSpPr/>
          <p:nvPr/>
        </p:nvSpPr>
        <p:spPr>
          <a:xfrm>
            <a:off x="1219200" y="4978400"/>
            <a:ext cx="2082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2000"/>
              </a:lnSpc>
            </a:pPr>
            <a:r>
              <a:rPr lang="zh-CN" sz="1300" b="1">
                <a:solidFill>
                  <a:srgbClr val="C07F14"/>
                </a:solidFill>
                <a:latin typeface="'PingFang SC'"/>
                <a:ea typeface="'PingFang SC'"/>
              </a:rPr>
              <a:t>没有一处「唯一可信来源」</a:t>
            </a:r>
          </a:p>
        </p:txBody>
      </p:sp>
      <p:sp>
        <p:nvSpPr>
          <p:cNvPr id="22" name="roundRect 8"/>
          <p:cNvSpPr/>
          <p:nvPr/>
        </p:nvSpPr>
        <p:spPr>
          <a:xfrm>
            <a:off x="4292600" y="2133600"/>
            <a:ext cx="3606800" cy="342900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w="12700">
            <a:solidFill>
              <a:srgbClr val="E4E8F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oundRect 9"/>
          <p:cNvSpPr/>
          <p:nvPr/>
        </p:nvSpPr>
        <p:spPr>
          <a:xfrm>
            <a:off x="4292600" y="2133600"/>
            <a:ext cx="3606800" cy="88900"/>
          </a:xfrm>
          <a:prstGeom prst="roundRect">
            <a:avLst>
              <a:gd fmla="val 50000" name="adj"/>
            </a:avLst>
          </a:prstGeom>
          <a:solidFill>
            <a:srgbClr val="E548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roundRect 10"/>
          <p:cNvSpPr/>
          <p:nvPr/>
        </p:nvSpPr>
        <p:spPr>
          <a:xfrm>
            <a:off x="4622800" y="2489200"/>
            <a:ext cx="584200" cy="431800"/>
          </a:xfrm>
          <a:prstGeom prst="roundRect">
            <a:avLst>
              <a:gd fmla="val 29412" name="adj"/>
            </a:avLst>
          </a:prstGeom>
          <a:solidFill>
            <a:srgbClr val="FDEAE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roundRect 11"/>
          <p:cNvSpPr/>
          <p:nvPr/>
        </p:nvSpPr>
        <p:spPr>
          <a:xfrm>
            <a:off x="4876800" y="2489200"/>
            <a:ext cx="88900" cy="431800"/>
          </a:xfrm>
          <a:prstGeom prst="roundRect">
            <a:avLst>
              <a:gd fmla="val 50000" name="adj"/>
            </a:avLst>
          </a:prstGeom>
          <a:solidFill>
            <a:srgbClr val="E548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ellipse 3"/>
          <p:cNvSpPr/>
          <p:nvPr/>
        </p:nvSpPr>
        <p:spPr>
          <a:xfrm>
            <a:off x="4940300" y="2451100"/>
            <a:ext cx="431800" cy="431800"/>
          </a:xfrm>
          <a:prstGeom prst="ellipse">
            <a:avLst/>
          </a:prstGeom>
          <a:solidFill>
            <a:srgbClr val="FDEAE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ellipse 4"/>
          <p:cNvSpPr/>
          <p:nvPr/>
        </p:nvSpPr>
        <p:spPr>
          <a:xfrm>
            <a:off x="5118100" y="2628900"/>
            <a:ext cx="431800" cy="431800"/>
          </a:xfrm>
          <a:prstGeom prst="ellipse">
            <a:avLst/>
          </a:prstGeom>
          <a:solidFill>
            <a:srgbClr val="F8D5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 12"/>
          <p:cNvSpPr/>
          <p:nvPr/>
        </p:nvSpPr>
        <p:spPr>
          <a:xfrm>
            <a:off x="5080000" y="2667000"/>
            <a:ext cx="457200" cy="330200"/>
          </a:xfrm>
          <a:custGeom>
            <a:avLst/>
            <a:gdLst/>
            <a:ahLst/>
            <a:cxnLst/>
            <a:rect l="0" t="0" r="0" b="0"/>
            <a:pathLst>
              <a:path w="36" h="26">
                <a:moveTo>
                  <a:pt x="0" y="26"/>
                </a:moveTo>
                <a:lnTo>
                  <a:pt x="36" y="0"/>
                </a:lnTo>
              </a:path>
            </a:pathLst>
          </a:custGeom>
          <a:solidFill>
            <a:srgbClr val="000000"/>
          </a:solidFill>
          <a:ln w="38100">
            <a:solidFill>
              <a:srgbClr val="E5484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 13"/>
          <p:cNvSpPr/>
          <p:nvPr/>
        </p:nvSpPr>
        <p:spPr>
          <a:xfrm>
            <a:off x="4622800" y="3124200"/>
            <a:ext cx="1790700" cy="292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1000"/>
              </a:lnSpc>
            </a:pPr>
            <a:r>
              <a:rPr lang="zh-CN" sz="1900" b="1">
                <a:solidFill>
                  <a:srgbClr val="1D2433"/>
                </a:solidFill>
                <a:latin typeface="'PingFang SC'"/>
                <a:ea typeface="'PingFang SC'"/>
              </a:rPr>
              <a:t>撞车靠肉眼发现</a:t>
            </a:r>
          </a:p>
        </p:txBody>
      </p:sp>
      <p:sp>
        <p:nvSpPr>
          <p:cNvPr id="30" name="rect 14"/>
          <p:cNvSpPr/>
          <p:nvPr/>
        </p:nvSpPr>
        <p:spPr>
          <a:xfrm>
            <a:off x="4622800" y="3543300"/>
            <a:ext cx="26797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</a:pPr>
            <a:r>
              <a:rPr lang="zh-CN" sz="1451">
                <a:solidFill>
                  <a:srgbClr val="4A5468"/>
                </a:solidFill>
                <a:latin typeface="'PingFang SC'"/>
                <a:ea typeface="'PingFang SC'"/>
              </a:rPr>
              <a:t>两件事挤在同一时间、截止悄悄</a:t>
            </a:r>
          </a:p>
        </p:txBody>
      </p:sp>
      <p:sp>
        <p:nvSpPr>
          <p:cNvPr id="31" name="rect 15"/>
          <p:cNvSpPr/>
          <p:nvPr/>
        </p:nvSpPr>
        <p:spPr>
          <a:xfrm>
            <a:off x="4622800" y="3797300"/>
            <a:ext cx="23368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</a:pPr>
            <a:r>
              <a:rPr lang="zh-CN" sz="1451">
                <a:solidFill>
                  <a:srgbClr val="4A5468"/>
                </a:solidFill>
                <a:latin typeface="'PingFang SC'"/>
                <a:ea typeface="'PingFang SC'"/>
              </a:rPr>
              <a:t>逼近——等发现时往往已经</a:t>
            </a:r>
          </a:p>
        </p:txBody>
      </p:sp>
      <p:sp>
        <p:nvSpPr>
          <p:cNvPr id="32" name="rect 16"/>
          <p:cNvSpPr/>
          <p:nvPr/>
        </p:nvSpPr>
        <p:spPr>
          <a:xfrm>
            <a:off x="4622800" y="4051300"/>
            <a:ext cx="10287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</a:pPr>
            <a:r>
              <a:rPr lang="zh-CN" sz="1451">
                <a:solidFill>
                  <a:srgbClr val="4A5468"/>
                </a:solidFill>
                <a:latin typeface="'PingFang SC'"/>
                <a:ea typeface="'PingFang SC'"/>
              </a:rPr>
              <a:t>来不及调整</a:t>
            </a:r>
          </a:p>
        </p:txBody>
      </p:sp>
      <p:sp>
        <p:nvSpPr>
          <p:cNvPr id="33" name="rect 17"/>
          <p:cNvSpPr/>
          <p:nvPr/>
        </p:nvSpPr>
        <p:spPr>
          <a:xfrm>
            <a:off x="4622800" y="4495800"/>
            <a:ext cx="25019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351">
                <a:solidFill>
                  <a:srgbClr val="8A94A8"/>
                </a:solidFill>
                <a:latin typeface="'PingFang SC'"/>
                <a:ea typeface="'PingFang SC'"/>
              </a:rPr>
              <a:t>时间重叠 · DDL 迫近 · 行程冲突</a:t>
            </a:r>
          </a:p>
        </p:txBody>
      </p:sp>
      <p:sp>
        <p:nvSpPr>
          <p:cNvPr id="34" name="roundRect 12"/>
          <p:cNvSpPr/>
          <p:nvPr/>
        </p:nvSpPr>
        <p:spPr>
          <a:xfrm>
            <a:off x="4622800" y="4902200"/>
            <a:ext cx="2946400" cy="381000"/>
          </a:xfrm>
          <a:prstGeom prst="roundRect">
            <a:avLst>
              <a:gd fmla="val 26667" name="adj"/>
            </a:avLst>
          </a:prstGeom>
          <a:solidFill>
            <a:srgbClr val="FDEAE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 18"/>
          <p:cNvSpPr/>
          <p:nvPr/>
        </p:nvSpPr>
        <p:spPr>
          <a:xfrm>
            <a:off x="5054600" y="4978400"/>
            <a:ext cx="2082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2000"/>
              </a:lnSpc>
            </a:pPr>
            <a:r>
              <a:rPr lang="zh-CN" sz="1300" b="1">
                <a:solidFill>
                  <a:srgbClr val="D1363A"/>
                </a:solidFill>
                <a:latin typeface="'PingFang SC'"/>
                <a:ea typeface="'PingFang SC'"/>
              </a:rPr>
              <a:t>冲突与遗漏，事前毫无感知</a:t>
            </a:r>
          </a:p>
        </p:txBody>
      </p:sp>
      <p:sp>
        <p:nvSpPr>
          <p:cNvPr id="36" name="roundRect 13"/>
          <p:cNvSpPr/>
          <p:nvPr/>
        </p:nvSpPr>
        <p:spPr>
          <a:xfrm>
            <a:off x="8128000" y="2133600"/>
            <a:ext cx="3606800" cy="342900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w="12700">
            <a:solidFill>
              <a:srgbClr val="E4E8F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roundRect 14"/>
          <p:cNvSpPr/>
          <p:nvPr/>
        </p:nvSpPr>
        <p:spPr>
          <a:xfrm>
            <a:off x="8128000" y="2133600"/>
            <a:ext cx="3606800" cy="88900"/>
          </a:xfrm>
          <a:prstGeom prst="roundRect">
            <a:avLst>
              <a:gd fmla="val 50000" name="adj"/>
            </a:avLst>
          </a:prstGeom>
          <a:solidFill>
            <a:srgbClr val="12A1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roundRect 15"/>
          <p:cNvSpPr/>
          <p:nvPr/>
        </p:nvSpPr>
        <p:spPr>
          <a:xfrm>
            <a:off x="8458200" y="2489200"/>
            <a:ext cx="584200" cy="431800"/>
          </a:xfrm>
          <a:prstGeom prst="roundRect">
            <a:avLst>
              <a:gd fmla="val 29412" name="adj"/>
            </a:avLst>
          </a:prstGeom>
          <a:solidFill>
            <a:srgbClr val="E5F6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roundRect 16"/>
          <p:cNvSpPr/>
          <p:nvPr/>
        </p:nvSpPr>
        <p:spPr>
          <a:xfrm>
            <a:off x="8534400" y="2565400"/>
            <a:ext cx="431800" cy="203200"/>
          </a:xfrm>
          <a:prstGeom prst="roundRect">
            <a:avLst>
              <a:gd fmla="val 25000" name="adj"/>
            </a:avLst>
          </a:prstGeom>
          <a:noFill/>
          <a:ln w="38100">
            <a:solidFill>
              <a:srgbClr val="12A15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roundRect 17"/>
          <p:cNvSpPr/>
          <p:nvPr/>
        </p:nvSpPr>
        <p:spPr>
          <a:xfrm>
            <a:off x="8585200" y="2616200"/>
            <a:ext cx="330200" cy="101600"/>
          </a:xfrm>
          <a:prstGeom prst="roundRect">
            <a:avLst>
              <a:gd fmla="val 25000" name="adj"/>
            </a:avLst>
          </a:prstGeom>
          <a:solidFill>
            <a:srgbClr val="12A1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roundRect 18"/>
          <p:cNvSpPr/>
          <p:nvPr/>
        </p:nvSpPr>
        <p:spPr>
          <a:xfrm>
            <a:off x="8890000" y="2844800"/>
            <a:ext cx="76200" cy="63500"/>
          </a:xfrm>
          <a:prstGeom prst="roundRect">
            <a:avLst>
              <a:gd fmla="val 40000" name="adj"/>
            </a:avLst>
          </a:prstGeom>
          <a:solidFill>
            <a:srgbClr val="12A1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ellipse 5"/>
          <p:cNvSpPr/>
          <p:nvPr/>
        </p:nvSpPr>
        <p:spPr>
          <a:xfrm>
            <a:off x="9004300" y="2489200"/>
            <a:ext cx="431800" cy="431800"/>
          </a:xfrm>
          <a:prstGeom prst="ellipse">
            <a:avLst/>
          </a:prstGeom>
          <a:solidFill>
            <a:srgbClr val="E5F6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 19"/>
          <p:cNvSpPr/>
          <p:nvPr/>
        </p:nvSpPr>
        <p:spPr>
          <a:xfrm>
            <a:off x="9080500" y="2578100"/>
            <a:ext cx="2794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500" b="1">
                <a:solidFill>
                  <a:srgbClr val="0B7A3D"/>
                </a:solidFill>
                <a:latin typeface="'PingFang SC'"/>
                <a:ea typeface="'Microsoft YaHei'"/>
              </a:rPr>
              <a:t>%</a:t>
            </a:r>
          </a:p>
        </p:txBody>
      </p:sp>
      <p:sp>
        <p:nvSpPr>
          <p:cNvPr id="44" name="rect 20"/>
          <p:cNvSpPr/>
          <p:nvPr/>
        </p:nvSpPr>
        <p:spPr>
          <a:xfrm>
            <a:off x="8458200" y="3124200"/>
            <a:ext cx="1308100" cy="292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1000"/>
              </a:lnSpc>
            </a:pPr>
            <a:r>
              <a:rPr lang="zh-CN" sz="1900" b="1">
                <a:solidFill>
                  <a:srgbClr val="1D2433"/>
                </a:solidFill>
                <a:latin typeface="'PingFang SC'"/>
                <a:ea typeface="'PingFang SC'"/>
              </a:rPr>
              <a:t>精力被高估</a:t>
            </a:r>
          </a:p>
        </p:txBody>
      </p:sp>
      <p:sp>
        <p:nvSpPr>
          <p:cNvPr id="45" name="rect 21"/>
          <p:cNvSpPr/>
          <p:nvPr/>
        </p:nvSpPr>
        <p:spPr>
          <a:xfrm>
            <a:off x="8458200" y="3543300"/>
            <a:ext cx="26797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</a:pPr>
            <a:r>
              <a:rPr lang="zh-CN" sz="1451">
                <a:solidFill>
                  <a:srgbClr val="4A5468"/>
                </a:solidFill>
                <a:latin typeface="'PingFang SC'"/>
                <a:ea typeface="'PingFang SC'"/>
              </a:rPr>
              <a:t>排期从不考虑「你现在还剩多少</a:t>
            </a:r>
          </a:p>
        </p:txBody>
      </p:sp>
      <p:sp>
        <p:nvSpPr>
          <p:cNvPr id="46" name="rect 22"/>
          <p:cNvSpPr/>
          <p:nvPr/>
        </p:nvSpPr>
        <p:spPr>
          <a:xfrm>
            <a:off x="8458200" y="3797300"/>
            <a:ext cx="27051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</a:pPr>
            <a:r>
              <a:rPr lang="zh-CN" sz="1451">
                <a:solidFill>
                  <a:srgbClr val="4A5468"/>
                </a:solidFill>
                <a:latin typeface="'PingFang SC'"/>
                <a:ea typeface="'PingFang SC'"/>
              </a:rPr>
              <a:t>精力」——临时的活硬塞进来，</a:t>
            </a:r>
          </a:p>
        </p:txBody>
      </p:sp>
      <p:sp>
        <p:nvSpPr>
          <p:cNvPr id="47" name="rect 23"/>
          <p:cNvSpPr/>
          <p:nvPr/>
        </p:nvSpPr>
        <p:spPr>
          <a:xfrm>
            <a:off x="8458200" y="4051300"/>
            <a:ext cx="17653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</a:pPr>
            <a:r>
              <a:rPr lang="zh-CN" sz="1451">
                <a:solidFill>
                  <a:srgbClr val="4A5468"/>
                </a:solidFill>
                <a:latin typeface="'PingFang SC'"/>
                <a:ea typeface="'PingFang SC'"/>
              </a:rPr>
              <a:t>拖延与熬夜成为常态</a:t>
            </a:r>
          </a:p>
        </p:txBody>
      </p:sp>
      <p:sp>
        <p:nvSpPr>
          <p:cNvPr id="48" name="rect 24"/>
          <p:cNvSpPr/>
          <p:nvPr/>
        </p:nvSpPr>
        <p:spPr>
          <a:xfrm>
            <a:off x="8458200" y="4495800"/>
            <a:ext cx="2616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351">
                <a:solidFill>
                  <a:srgbClr val="8A94A8"/>
                </a:solidFill>
                <a:latin typeface="'PingFang SC'"/>
                <a:ea typeface="'PingFang SC'"/>
              </a:rPr>
              <a:t>硬塞式排期 · 深夜赶工 · 状态失衡</a:t>
            </a:r>
          </a:p>
        </p:txBody>
      </p:sp>
      <p:sp>
        <p:nvSpPr>
          <p:cNvPr id="49" name="roundRect 19"/>
          <p:cNvSpPr/>
          <p:nvPr/>
        </p:nvSpPr>
        <p:spPr>
          <a:xfrm>
            <a:off x="8458200" y="4902200"/>
            <a:ext cx="2946400" cy="381000"/>
          </a:xfrm>
          <a:prstGeom prst="roundRect">
            <a:avLst>
              <a:gd fmla="val 26667" name="adj"/>
            </a:avLst>
          </a:prstGeom>
          <a:solidFill>
            <a:srgbClr val="E5F6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 25"/>
          <p:cNvSpPr/>
          <p:nvPr/>
        </p:nvSpPr>
        <p:spPr>
          <a:xfrm>
            <a:off x="8890000" y="4978400"/>
            <a:ext cx="2082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2000"/>
              </a:lnSpc>
            </a:pPr>
            <a:r>
              <a:rPr lang="zh-CN" sz="1300" b="1">
                <a:solidFill>
                  <a:srgbClr val="0B7A3D"/>
                </a:solidFill>
                <a:latin typeface="'PingFang SC'"/>
                <a:ea typeface="'PingFang SC'"/>
              </a:rPr>
              <a:t>计划不心疼人，人就会垮掉</a:t>
            </a:r>
          </a:p>
        </p:txBody>
      </p:sp>
      <p:sp>
        <p:nvSpPr>
          <p:cNvPr id="51" name="roundRect 20"/>
          <p:cNvSpPr/>
          <p:nvPr/>
        </p:nvSpPr>
        <p:spPr>
          <a:xfrm>
            <a:off x="457200" y="5867400"/>
            <a:ext cx="11277600" cy="660400"/>
          </a:xfrm>
          <a:prstGeom prst="roundRect">
            <a:avLst>
              <a:gd fmla="val 26923" name="adj"/>
            </a:avLst>
          </a:prstGeom>
          <a:solidFill>
            <a:srgbClr val="1D24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 26"/>
          <p:cNvSpPr/>
          <p:nvPr/>
        </p:nvSpPr>
        <p:spPr>
          <a:xfrm>
            <a:off x="787400" y="6045200"/>
            <a:ext cx="79121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3000"/>
              </a:lnSpc>
            </a:pPr>
            <a:r>
              <a:rPr lang="zh-CN" sz="1700" b="1">
                <a:solidFill>
                  <a:srgbClr val="FFFFFF"/>
                </a:solidFill>
                <a:latin typeface="'PingFang SC'"/>
                <a:ea typeface="'PingFang SC'"/>
              </a:rPr>
              <a:t>缺的从来不是「又一个日历」——而是一个会自动提取、会排期、会心疼你的助手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1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oundRect 1"/>
          <p:cNvSpPr/>
          <p:nvPr/>
        </p:nvSpPr>
        <p:spPr>
          <a:xfrm>
            <a:off x="457200" y="381000"/>
            <a:ext cx="2235200" cy="431800"/>
          </a:xfrm>
          <a:prstGeom prst="roundRect">
            <a:avLst>
              <a:gd fmla="val 50000" name="adj"/>
            </a:avLst>
          </a:prstGeom>
          <a:solidFill>
            <a:srgbClr val="E3E8F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 2"/>
          <p:cNvSpPr/>
          <p:nvPr/>
        </p:nvSpPr>
        <p:spPr>
          <a:xfrm>
            <a:off x="1143000" y="469900"/>
            <a:ext cx="863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zh-CN" sz="1500" b="1">
                <a:solidFill>
                  <a:srgbClr val="4F6EF7"/>
                </a:solidFill>
                <a:latin typeface="'PingFang SC'"/>
                <a:ea typeface="'PingFang SC'"/>
              </a:rPr>
              <a:t>怎么解决</a:t>
            </a:r>
          </a:p>
        </p:txBody>
      </p:sp>
      <p:sp>
        <p:nvSpPr>
          <p:cNvPr id="5" name="rect 3"/>
          <p:cNvSpPr/>
          <p:nvPr/>
        </p:nvSpPr>
        <p:spPr>
          <a:xfrm>
            <a:off x="457200" y="838200"/>
            <a:ext cx="7696200" cy="520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1000"/>
              </a:lnSpc>
            </a:pPr>
            <a:r>
              <a:rPr lang="zh-CN" sz="3400" b="1">
                <a:solidFill>
                  <a:srgbClr val="1D2433"/>
                </a:solidFill>
                <a:latin typeface="'PingFang SC'"/>
                <a:ea typeface="'PingFang SC'"/>
              </a:rPr>
              <a:t>说一句、转一条 → 日程与待办自动归位</a:t>
            </a:r>
          </a:p>
        </p:txBody>
      </p:sp>
      <p:sp>
        <p:nvSpPr>
          <p:cNvPr id="6" name="rect 4"/>
          <p:cNvSpPr/>
          <p:nvPr/>
        </p:nvSpPr>
        <p:spPr>
          <a:xfrm>
            <a:off x="457200" y="1485900"/>
            <a:ext cx="78867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1000"/>
              </a:lnSpc>
            </a:pPr>
            <a:r>
              <a:rPr lang="zh-CN" sz="1600">
                <a:solidFill>
                  <a:srgbClr val="66708A"/>
                </a:solidFill>
                <a:latin typeface="'PingFang SC'"/>
                <a:ea typeface="'PingFang SC'"/>
              </a:rPr>
              <a:t>一个五页一体的桌面助手：对话 · 计划 · 日程 · 待办 · 我的（截图均来自本机真实运行）</a:t>
            </a:r>
          </a:p>
        </p:txBody>
      </p:sp>
      <p:sp>
        <p:nvSpPr>
          <p:cNvPr id="7" name="roundRect 2"/>
          <p:cNvSpPr/>
          <p:nvPr/>
        </p:nvSpPr>
        <p:spPr>
          <a:xfrm>
            <a:off x="457200" y="2082800"/>
            <a:ext cx="2082800" cy="1879600"/>
          </a:xfrm>
          <a:prstGeom prst="roundRect">
            <a:avLst>
              <a:gd fmla="val 8108" name="adj"/>
            </a:avLst>
          </a:prstGeom>
          <a:solidFill>
            <a:srgbClr val="FFFFFF"/>
          </a:solidFill>
          <a:ln w="12700">
            <a:solidFill>
              <a:srgbClr val="E4E8F1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159000"/>
            <a:ext cx="1930400" cy="1206500"/>
          </a:xfrm>
          <a:prstGeom prst="rect">
            <a:avLst/>
          </a:prstGeom>
        </p:spPr>
      </p:pic>
      <p:sp>
        <p:nvSpPr>
          <p:cNvPr id="9" name="roundRect 3"/>
          <p:cNvSpPr/>
          <p:nvPr/>
        </p:nvSpPr>
        <p:spPr>
          <a:xfrm>
            <a:off x="533400" y="3251200"/>
            <a:ext cx="1930400" cy="304800"/>
          </a:xfrm>
          <a:prstGeom prst="roundRect">
            <a:avLst>
              <a:gd fmla="val 33333" name="adj"/>
            </a:avLst>
          </a:prstGeom>
          <a:solidFill>
            <a:srgbClr val="EEF2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 5"/>
          <p:cNvSpPr/>
          <p:nvPr/>
        </p:nvSpPr>
        <p:spPr>
          <a:xfrm>
            <a:off x="1155700" y="3276600"/>
            <a:ext cx="6858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8000"/>
              </a:lnSpc>
            </a:pPr>
            <a:r>
              <a:rPr lang="zh-CN" sz="1400" b="1">
                <a:solidFill>
                  <a:srgbClr val="3D55D9"/>
                </a:solidFill>
                <a:latin typeface="'PingFang SC'"/>
                <a:ea typeface="'PingFang SC'"/>
              </a:rPr>
              <a:t>① 对话</a:t>
            </a:r>
          </a:p>
        </p:txBody>
      </p:sp>
      <p:sp>
        <p:nvSpPr>
          <p:cNvPr id="11" name="rect 6"/>
          <p:cNvSpPr/>
          <p:nvPr/>
        </p:nvSpPr>
        <p:spPr>
          <a:xfrm>
            <a:off x="679450" y="3644900"/>
            <a:ext cx="16383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3000"/>
              </a:lnSpc>
            </a:pPr>
            <a:r>
              <a:rPr lang="zh-CN" sz="1100">
                <a:solidFill>
                  <a:srgbClr val="8A94A8"/>
                </a:solidFill>
                <a:latin typeface="'PingFang SC'"/>
                <a:ea typeface="'PingFang SC'"/>
              </a:rPr>
              <a:t>直接说安排，确认后入库</a:t>
            </a:r>
          </a:p>
        </p:txBody>
      </p:sp>
      <p:sp>
        <p:nvSpPr>
          <p:cNvPr id="12" name="roundRect 4"/>
          <p:cNvSpPr/>
          <p:nvPr/>
        </p:nvSpPr>
        <p:spPr>
          <a:xfrm>
            <a:off x="2755900" y="2082800"/>
            <a:ext cx="2082800" cy="1879600"/>
          </a:xfrm>
          <a:prstGeom prst="roundRect">
            <a:avLst>
              <a:gd fmla="val 8108" name="adj"/>
            </a:avLst>
          </a:prstGeom>
          <a:solidFill>
            <a:srgbClr val="FFFFFF"/>
          </a:solidFill>
          <a:ln w="12700">
            <a:solidFill>
              <a:srgbClr val="E4E8F1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2100" y="2159000"/>
            <a:ext cx="1930400" cy="1206500"/>
          </a:xfrm>
          <a:prstGeom prst="rect">
            <a:avLst/>
          </a:prstGeom>
        </p:spPr>
      </p:pic>
      <p:sp>
        <p:nvSpPr>
          <p:cNvPr id="14" name="roundRect 5"/>
          <p:cNvSpPr/>
          <p:nvPr/>
        </p:nvSpPr>
        <p:spPr>
          <a:xfrm>
            <a:off x="2832100" y="3251200"/>
            <a:ext cx="1930400" cy="304800"/>
          </a:xfrm>
          <a:prstGeom prst="roundRect">
            <a:avLst>
              <a:gd fmla="val 33333" name="adj"/>
            </a:avLst>
          </a:prstGeom>
          <a:solidFill>
            <a:srgbClr val="EEF2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 7"/>
          <p:cNvSpPr/>
          <p:nvPr/>
        </p:nvSpPr>
        <p:spPr>
          <a:xfrm>
            <a:off x="3454400" y="3276600"/>
            <a:ext cx="6858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8000"/>
              </a:lnSpc>
            </a:pPr>
            <a:r>
              <a:rPr lang="zh-CN" sz="1400" b="1">
                <a:solidFill>
                  <a:srgbClr val="3D55D9"/>
                </a:solidFill>
                <a:latin typeface="'PingFang SC'"/>
                <a:ea typeface="'PingFang SC'"/>
              </a:rPr>
              <a:t>② 计划</a:t>
            </a:r>
          </a:p>
        </p:txBody>
      </p:sp>
      <p:sp>
        <p:nvSpPr>
          <p:cNvPr id="16" name="rect 8"/>
          <p:cNvSpPr/>
          <p:nvPr/>
        </p:nvSpPr>
        <p:spPr>
          <a:xfrm>
            <a:off x="2959100" y="3644900"/>
            <a:ext cx="16764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3000"/>
              </a:lnSpc>
            </a:pPr>
            <a:r>
              <a:rPr lang="zh-CN" sz="1100">
                <a:solidFill>
                  <a:srgbClr val="8A94A8"/>
                </a:solidFill>
                <a:latin typeface="'PingFang SC'"/>
                <a:ea typeface="'PingFang SC'"/>
              </a:rPr>
              <a:t>AI 挑值得做的并给出排期</a:t>
            </a:r>
          </a:p>
        </p:txBody>
      </p:sp>
      <p:sp>
        <p:nvSpPr>
          <p:cNvPr id="17" name="roundRect 6"/>
          <p:cNvSpPr/>
          <p:nvPr/>
        </p:nvSpPr>
        <p:spPr>
          <a:xfrm>
            <a:off x="5054600" y="2082800"/>
            <a:ext cx="2082800" cy="1879600"/>
          </a:xfrm>
          <a:prstGeom prst="roundRect">
            <a:avLst>
              <a:gd fmla="val 8108" name="adj"/>
            </a:avLst>
          </a:prstGeom>
          <a:solidFill>
            <a:srgbClr val="FFFFFF"/>
          </a:solidFill>
          <a:ln w="12700">
            <a:solidFill>
              <a:srgbClr val="E4E8F1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800" y="2159000"/>
            <a:ext cx="1930400" cy="1206500"/>
          </a:xfrm>
          <a:prstGeom prst="rect">
            <a:avLst/>
          </a:prstGeom>
        </p:spPr>
      </p:pic>
      <p:sp>
        <p:nvSpPr>
          <p:cNvPr id="19" name="roundRect 7"/>
          <p:cNvSpPr/>
          <p:nvPr/>
        </p:nvSpPr>
        <p:spPr>
          <a:xfrm>
            <a:off x="5130800" y="3251200"/>
            <a:ext cx="1930400" cy="304800"/>
          </a:xfrm>
          <a:prstGeom prst="roundRect">
            <a:avLst>
              <a:gd fmla="val 33333" name="adj"/>
            </a:avLst>
          </a:prstGeom>
          <a:solidFill>
            <a:srgbClr val="EEF2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 9"/>
          <p:cNvSpPr/>
          <p:nvPr/>
        </p:nvSpPr>
        <p:spPr>
          <a:xfrm>
            <a:off x="5753100" y="3276600"/>
            <a:ext cx="6858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8000"/>
              </a:lnSpc>
            </a:pPr>
            <a:r>
              <a:rPr lang="zh-CN" sz="1400" b="1">
                <a:solidFill>
                  <a:srgbClr val="3D55D9"/>
                </a:solidFill>
                <a:latin typeface="'PingFang SC'"/>
                <a:ea typeface="'PingFang SC'"/>
              </a:rPr>
              <a:t>③ 日程</a:t>
            </a:r>
          </a:p>
        </p:txBody>
      </p:sp>
      <p:sp>
        <p:nvSpPr>
          <p:cNvPr id="21" name="rect 10"/>
          <p:cNvSpPr/>
          <p:nvPr/>
        </p:nvSpPr>
        <p:spPr>
          <a:xfrm>
            <a:off x="5276850" y="3644900"/>
            <a:ext cx="16383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3000"/>
              </a:lnSpc>
            </a:pPr>
            <a:r>
              <a:rPr lang="zh-CN" sz="1100">
                <a:solidFill>
                  <a:srgbClr val="8A94A8"/>
                </a:solidFill>
                <a:latin typeface="'PingFang SC'"/>
                <a:ea typeface="'PingFang SC'"/>
              </a:rPr>
              <a:t>时间轴视图，可拖拽调整</a:t>
            </a:r>
          </a:p>
        </p:txBody>
      </p:sp>
      <p:sp>
        <p:nvSpPr>
          <p:cNvPr id="22" name="roundRect 8"/>
          <p:cNvSpPr/>
          <p:nvPr/>
        </p:nvSpPr>
        <p:spPr>
          <a:xfrm>
            <a:off x="7353300" y="2082800"/>
            <a:ext cx="2082800" cy="1879600"/>
          </a:xfrm>
          <a:prstGeom prst="roundRect">
            <a:avLst>
              <a:gd fmla="val 8108" name="adj"/>
            </a:avLst>
          </a:prstGeom>
          <a:solidFill>
            <a:srgbClr val="FFFFFF"/>
          </a:solidFill>
          <a:ln w="12700">
            <a:solidFill>
              <a:srgbClr val="E4E8F1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0" y="2159000"/>
            <a:ext cx="1930400" cy="1206500"/>
          </a:xfrm>
          <a:prstGeom prst="rect">
            <a:avLst/>
          </a:prstGeom>
        </p:spPr>
      </p:pic>
      <p:sp>
        <p:nvSpPr>
          <p:cNvPr id="24" name="roundRect 9"/>
          <p:cNvSpPr/>
          <p:nvPr/>
        </p:nvSpPr>
        <p:spPr>
          <a:xfrm>
            <a:off x="7429500" y="3251200"/>
            <a:ext cx="1930400" cy="304800"/>
          </a:xfrm>
          <a:prstGeom prst="roundRect">
            <a:avLst>
              <a:gd fmla="val 33333" name="adj"/>
            </a:avLst>
          </a:prstGeom>
          <a:solidFill>
            <a:srgbClr val="EEF2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 11"/>
          <p:cNvSpPr/>
          <p:nvPr/>
        </p:nvSpPr>
        <p:spPr>
          <a:xfrm>
            <a:off x="8051800" y="3276600"/>
            <a:ext cx="6858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8000"/>
              </a:lnSpc>
            </a:pPr>
            <a:r>
              <a:rPr lang="zh-CN" sz="1400" b="1">
                <a:solidFill>
                  <a:srgbClr val="3D55D9"/>
                </a:solidFill>
                <a:latin typeface="'PingFang SC'"/>
                <a:ea typeface="'PingFang SC'"/>
              </a:rPr>
              <a:t>④ 待办</a:t>
            </a:r>
          </a:p>
        </p:txBody>
      </p:sp>
      <p:sp>
        <p:nvSpPr>
          <p:cNvPr id="26" name="rect 12"/>
          <p:cNvSpPr/>
          <p:nvPr/>
        </p:nvSpPr>
        <p:spPr>
          <a:xfrm>
            <a:off x="7575550" y="3644900"/>
            <a:ext cx="16383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3000"/>
              </a:lnSpc>
            </a:pPr>
            <a:r>
              <a:rPr lang="zh-CN" sz="1100">
                <a:solidFill>
                  <a:srgbClr val="8A94A8"/>
                </a:solidFill>
                <a:latin typeface="'PingFang SC'"/>
                <a:ea typeface="'PingFang SC'"/>
              </a:rPr>
              <a:t>无时间任务也有兜底去处</a:t>
            </a:r>
          </a:p>
        </p:txBody>
      </p:sp>
      <p:sp>
        <p:nvSpPr>
          <p:cNvPr id="27" name="roundRect 10"/>
          <p:cNvSpPr/>
          <p:nvPr/>
        </p:nvSpPr>
        <p:spPr>
          <a:xfrm>
            <a:off x="9652000" y="2082800"/>
            <a:ext cx="2082800" cy="1879600"/>
          </a:xfrm>
          <a:prstGeom prst="roundRect">
            <a:avLst>
              <a:gd fmla="val 8108" name="adj"/>
            </a:avLst>
          </a:prstGeom>
          <a:solidFill>
            <a:srgbClr val="FFFFFF"/>
          </a:solidFill>
          <a:ln w="12700">
            <a:solidFill>
              <a:srgbClr val="E4E8F1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8200" y="2159000"/>
            <a:ext cx="1930400" cy="1206500"/>
          </a:xfrm>
          <a:prstGeom prst="rect">
            <a:avLst/>
          </a:prstGeom>
        </p:spPr>
      </p:pic>
      <p:sp>
        <p:nvSpPr>
          <p:cNvPr id="29" name="roundRect 11"/>
          <p:cNvSpPr/>
          <p:nvPr/>
        </p:nvSpPr>
        <p:spPr>
          <a:xfrm>
            <a:off x="9728200" y="3251200"/>
            <a:ext cx="1930400" cy="304800"/>
          </a:xfrm>
          <a:prstGeom prst="roundRect">
            <a:avLst>
              <a:gd fmla="val 33333" name="adj"/>
            </a:avLst>
          </a:prstGeom>
          <a:solidFill>
            <a:srgbClr val="EEF2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 13"/>
          <p:cNvSpPr/>
          <p:nvPr/>
        </p:nvSpPr>
        <p:spPr>
          <a:xfrm>
            <a:off x="10350500" y="3276600"/>
            <a:ext cx="6858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8000"/>
              </a:lnSpc>
            </a:pPr>
            <a:r>
              <a:rPr lang="zh-CN" sz="1400" b="1">
                <a:solidFill>
                  <a:srgbClr val="3D55D9"/>
                </a:solidFill>
                <a:latin typeface="'PingFang SC'"/>
                <a:ea typeface="'PingFang SC'"/>
              </a:rPr>
              <a:t>⑤ 我的</a:t>
            </a:r>
          </a:p>
        </p:txBody>
      </p:sp>
      <p:sp>
        <p:nvSpPr>
          <p:cNvPr id="31" name="rect 14"/>
          <p:cNvSpPr/>
          <p:nvPr/>
        </p:nvSpPr>
        <p:spPr>
          <a:xfrm>
            <a:off x="10013950" y="3644900"/>
            <a:ext cx="13589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3000"/>
              </a:lnSpc>
            </a:pPr>
            <a:r>
              <a:rPr lang="zh-CN" sz="1100">
                <a:solidFill>
                  <a:srgbClr val="8A94A8"/>
                </a:solidFill>
                <a:latin typeface="'PingFang SC'"/>
                <a:ea typeface="'PingFang SC'"/>
              </a:rPr>
              <a:t>微信 / AI / 数据设置</a:t>
            </a:r>
          </a:p>
        </p:txBody>
      </p:sp>
      <p:sp>
        <p:nvSpPr>
          <p:cNvPr id="32" name="roundRect 12"/>
          <p:cNvSpPr/>
          <p:nvPr/>
        </p:nvSpPr>
        <p:spPr>
          <a:xfrm>
            <a:off x="457200" y="4292600"/>
            <a:ext cx="11277600" cy="736600"/>
          </a:xfrm>
          <a:prstGeom prst="roundRect">
            <a:avLst>
              <a:gd fmla="val 24138" name="adj"/>
            </a:avLst>
          </a:prstGeom>
          <a:solidFill>
            <a:srgbClr val="FFFFFF"/>
          </a:solidFill>
          <a:ln w="12700">
            <a:solidFill>
              <a:srgbClr val="E4E8F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 15"/>
          <p:cNvSpPr/>
          <p:nvPr/>
        </p:nvSpPr>
        <p:spPr>
          <a:xfrm>
            <a:off x="787400" y="4406900"/>
            <a:ext cx="70612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500" b="1">
                <a:solidFill>
                  <a:srgbClr val="1D2433"/>
                </a:solidFill>
                <a:latin typeface="'PingFang SC'"/>
                <a:ea typeface="'PingFang SC'"/>
              </a:rPr>
              <a:t>闭环：说安排 / 转发微信 → 提取为结构化卡片 → 你点「采纳」→ 写入日程或待办</a:t>
            </a:r>
          </a:p>
        </p:txBody>
      </p:sp>
      <p:sp>
        <p:nvSpPr>
          <p:cNvPr id="34" name="rect 16"/>
          <p:cNvSpPr/>
          <p:nvPr/>
        </p:nvSpPr>
        <p:spPr>
          <a:xfrm>
            <a:off x="787400" y="4724400"/>
            <a:ext cx="62357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351">
                <a:solidFill>
                  <a:srgbClr val="66708A"/>
                </a:solidFill>
                <a:latin typeface="'PingFang SC'"/>
                <a:ea typeface="'PingFang SC'"/>
              </a:rPr>
              <a:t>识别不出的时间线索也不会丢——落入待办池，等待 AI 结合画像与精力择时规划</a:t>
            </a:r>
          </a:p>
        </p:txBody>
      </p:sp>
      <p:sp>
        <p:nvSpPr>
          <p:cNvPr id="35" name="roundRect 13"/>
          <p:cNvSpPr/>
          <p:nvPr/>
        </p:nvSpPr>
        <p:spPr>
          <a:xfrm>
            <a:off x="457200" y="5283200"/>
            <a:ext cx="11277600" cy="1244600"/>
          </a:xfrm>
          <a:prstGeom prst="roundRect">
            <a:avLst>
              <a:gd fmla="val 14286" name="adj"/>
            </a:avLst>
          </a:prstGeom>
          <a:solidFill>
            <a:srgbClr val="1D24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 17"/>
          <p:cNvSpPr/>
          <p:nvPr/>
        </p:nvSpPr>
        <p:spPr>
          <a:xfrm>
            <a:off x="787400" y="5473700"/>
            <a:ext cx="13208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1000"/>
              </a:lnSpc>
            </a:pPr>
            <a:r>
              <a:rPr lang="zh-CN" sz="1600" b="1">
                <a:solidFill>
                  <a:srgbClr val="FFFFFF"/>
                </a:solidFill>
                <a:latin typeface="'PingFang SC'"/>
                <a:ea typeface="'PingFang SC'"/>
              </a:rPr>
              <a:t>三个产品原则</a:t>
            </a:r>
          </a:p>
        </p:txBody>
      </p:sp>
      <p:sp>
        <p:nvSpPr>
          <p:cNvPr id="37" name="rect 18"/>
          <p:cNvSpPr/>
          <p:nvPr/>
        </p:nvSpPr>
        <p:spPr>
          <a:xfrm>
            <a:off x="787400" y="5905500"/>
            <a:ext cx="64770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</a:pPr>
            <a:r>
              <a:rPr lang="zh-CN" sz="1451">
                <a:solidFill>
                  <a:srgbClr val="C9D0F2"/>
                </a:solidFill>
                <a:latin typeface="'PingFang SC'"/>
                <a:ea typeface="'PingFang SC'"/>
              </a:rPr>
              <a:t>· AI 是可选增强，规则引擎兜底——没配 Key 也全功能可用，AI 失败不会漏事</a:t>
            </a:r>
          </a:p>
        </p:txBody>
      </p:sp>
      <p:sp>
        <p:nvSpPr>
          <p:cNvPr id="38" name="rect 19"/>
          <p:cNvSpPr/>
          <p:nvPr/>
        </p:nvSpPr>
        <p:spPr>
          <a:xfrm>
            <a:off x="787400" y="6184900"/>
            <a:ext cx="60960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</a:pPr>
            <a:r>
              <a:rPr lang="zh-CN" sz="1451">
                <a:solidFill>
                  <a:srgbClr val="C9D0F2"/>
                </a:solidFill>
                <a:latin typeface="'PingFang SC'"/>
                <a:ea typeface="'PingFang SC'"/>
              </a:rPr>
              <a:t>· 先「待采纳」确认再入库——不替用户做决定；所有数据只存本机 data/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1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oundRect 1"/>
          <p:cNvSpPr/>
          <p:nvPr/>
        </p:nvSpPr>
        <p:spPr>
          <a:xfrm>
            <a:off x="457200" y="381000"/>
            <a:ext cx="2235200" cy="431800"/>
          </a:xfrm>
          <a:prstGeom prst="roundRect">
            <a:avLst>
              <a:gd fmla="val 50000" name="adj"/>
            </a:avLst>
          </a:prstGeom>
          <a:solidFill>
            <a:srgbClr val="E3E8F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 2"/>
          <p:cNvSpPr/>
          <p:nvPr/>
        </p:nvSpPr>
        <p:spPr>
          <a:xfrm>
            <a:off x="1143000" y="469900"/>
            <a:ext cx="863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zh-CN" sz="1500" b="1">
                <a:solidFill>
                  <a:srgbClr val="4F6EF7"/>
                </a:solidFill>
                <a:latin typeface="'PingFang SC'"/>
                <a:ea typeface="'PingFang SC'"/>
              </a:rPr>
              <a:t>工作逻辑</a:t>
            </a:r>
          </a:p>
        </p:txBody>
      </p:sp>
      <p:sp>
        <p:nvSpPr>
          <p:cNvPr id="5" name="rect 3"/>
          <p:cNvSpPr/>
          <p:nvPr/>
        </p:nvSpPr>
        <p:spPr>
          <a:xfrm>
            <a:off x="457200" y="812800"/>
            <a:ext cx="9601200" cy="482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1000"/>
              </a:lnSpc>
            </a:pPr>
            <a:r>
              <a:rPr lang="zh-CN" sz="3200" b="1">
                <a:solidFill>
                  <a:srgbClr val="1D2433"/>
                </a:solidFill>
                <a:latin typeface="'PingFang SC'"/>
                <a:ea typeface="'PingFang SC'"/>
              </a:rPr>
              <a:t>六步闭环：提取 → 确认 → 分层记忆 → 规划 → 反馈</a:t>
            </a:r>
          </a:p>
        </p:txBody>
      </p:sp>
      <p:sp>
        <p:nvSpPr>
          <p:cNvPr id="6" name="rect 4"/>
          <p:cNvSpPr/>
          <p:nvPr/>
        </p:nvSpPr>
        <p:spPr>
          <a:xfrm>
            <a:off x="457200" y="1397000"/>
            <a:ext cx="60579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500">
                <a:solidFill>
                  <a:srgbClr val="66708A"/>
                </a:solidFill>
                <a:latin typeface="'PingFang SC'"/>
                <a:ea typeface="'PingFang SC'"/>
              </a:rPr>
              <a:t>规则与 AI 双引擎 · 四层概念互不污染 · 能量引擎只做校验，不越权决策</a:t>
            </a:r>
          </a:p>
        </p:txBody>
      </p:sp>
      <p:sp>
        <p:nvSpPr>
          <p:cNvPr id="7" name="roundRect 2"/>
          <p:cNvSpPr/>
          <p:nvPr/>
        </p:nvSpPr>
        <p:spPr>
          <a:xfrm>
            <a:off x="457200" y="1930400"/>
            <a:ext cx="3429000" cy="1930400"/>
          </a:xfrm>
          <a:prstGeom prst="roundRect">
            <a:avLst>
              <a:gd fmla="val 9211" name="adj"/>
            </a:avLst>
          </a:prstGeom>
          <a:solidFill>
            <a:srgbClr val="FFFFFF"/>
          </a:solidFill>
          <a:ln w="12700">
            <a:solidFill>
              <a:srgbClr val="E4E8F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ellipse 1"/>
          <p:cNvSpPr/>
          <p:nvPr/>
        </p:nvSpPr>
        <p:spPr>
          <a:xfrm>
            <a:off x="596900" y="2095500"/>
            <a:ext cx="381000" cy="381000"/>
          </a:xfrm>
          <a:prstGeom prst="ellipse">
            <a:avLst/>
          </a:prstGeom>
          <a:solidFill>
            <a:srgbClr val="4F6E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 5"/>
          <p:cNvSpPr/>
          <p:nvPr/>
        </p:nvSpPr>
        <p:spPr>
          <a:xfrm>
            <a:off x="673100" y="2146300"/>
            <a:ext cx="2286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1000"/>
              </a:lnSpc>
            </a:pPr>
            <a:r>
              <a:rPr lang="en-US" sz="1600" b="1">
                <a:solidFill>
                  <a:srgbClr val="FFFFFF"/>
                </a:solidFill>
                <a:latin typeface="'PingFang SC'"/>
                <a:ea typeface="'Microsoft YaHei'"/>
              </a:rPr>
              <a:t>1</a:t>
            </a:r>
          </a:p>
        </p:txBody>
      </p:sp>
      <p:sp>
        <p:nvSpPr>
          <p:cNvPr id="10" name="rect 6"/>
          <p:cNvSpPr/>
          <p:nvPr/>
        </p:nvSpPr>
        <p:spPr>
          <a:xfrm>
            <a:off x="1092200" y="2120900"/>
            <a:ext cx="5588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800" b="1">
                <a:solidFill>
                  <a:srgbClr val="1D2433"/>
                </a:solidFill>
                <a:latin typeface="'PingFang SC'"/>
                <a:ea typeface="'PingFang SC'"/>
              </a:rPr>
              <a:t>输入</a:t>
            </a:r>
          </a:p>
        </p:txBody>
      </p:sp>
      <p:sp>
        <p:nvSpPr>
          <p:cNvPr id="11" name="rect 7"/>
          <p:cNvSpPr/>
          <p:nvPr/>
        </p:nvSpPr>
        <p:spPr>
          <a:xfrm>
            <a:off x="711200" y="2565400"/>
            <a:ext cx="1651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351">
                <a:solidFill>
                  <a:srgbClr val="4A5468"/>
                </a:solidFill>
                <a:latin typeface="'PingFang SC'"/>
                <a:ea typeface="'PingFang SC'"/>
              </a:rPr>
              <a:t>对话页直接说安排；</a:t>
            </a:r>
          </a:p>
        </p:txBody>
      </p:sp>
      <p:sp>
        <p:nvSpPr>
          <p:cNvPr id="12" name="rect 8"/>
          <p:cNvSpPr/>
          <p:nvPr/>
        </p:nvSpPr>
        <p:spPr>
          <a:xfrm>
            <a:off x="711200" y="2844800"/>
            <a:ext cx="23241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351">
                <a:solidFill>
                  <a:srgbClr val="4A5468"/>
                </a:solidFill>
                <a:latin typeface="'PingFang SC'"/>
                <a:ea typeface="'PingFang SC'"/>
              </a:rPr>
              <a:t>微信 4.x 实时监听：文件传输</a:t>
            </a:r>
          </a:p>
        </p:txBody>
      </p:sp>
      <p:sp>
        <p:nvSpPr>
          <p:cNvPr id="13" name="rect 9"/>
          <p:cNvSpPr/>
          <p:nvPr/>
        </p:nvSpPr>
        <p:spPr>
          <a:xfrm>
            <a:off x="711200" y="3124200"/>
            <a:ext cx="21717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351">
                <a:solidFill>
                  <a:srgbClr val="4A5468"/>
                </a:solidFill>
                <a:latin typeface="'PingFang SC'"/>
                <a:ea typeface="'PingFang SC'"/>
              </a:rPr>
              <a:t>助手 / 指定会话 / 全部会话</a:t>
            </a:r>
          </a:p>
        </p:txBody>
      </p:sp>
      <p:sp>
        <p:nvSpPr>
          <p:cNvPr id="14" name="rect 10"/>
          <p:cNvSpPr/>
          <p:nvPr/>
        </p:nvSpPr>
        <p:spPr>
          <a:xfrm>
            <a:off x="711200" y="3492500"/>
            <a:ext cx="17272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200">
                <a:solidFill>
                  <a:srgbClr val="8A94A8"/>
                </a:solidFill>
                <a:latin typeface="'PingFang SC'"/>
                <a:ea typeface="'PingFang SC'"/>
              </a:rPr>
              <a:t>接入口：说 · 转发 · 粘贴</a:t>
            </a:r>
          </a:p>
        </p:txBody>
      </p:sp>
      <p:sp>
        <p:nvSpPr>
          <p:cNvPr id="15" name="roundRect 3"/>
          <p:cNvSpPr/>
          <p:nvPr/>
        </p:nvSpPr>
        <p:spPr>
          <a:xfrm>
            <a:off x="4381500" y="1930400"/>
            <a:ext cx="3429000" cy="1930400"/>
          </a:xfrm>
          <a:prstGeom prst="roundRect">
            <a:avLst>
              <a:gd fmla="val 9211" name="adj"/>
            </a:avLst>
          </a:prstGeom>
          <a:solidFill>
            <a:srgbClr val="FFFFFF"/>
          </a:solidFill>
          <a:ln w="12700">
            <a:solidFill>
              <a:srgbClr val="E4E8F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ellipse 2"/>
          <p:cNvSpPr/>
          <p:nvPr/>
        </p:nvSpPr>
        <p:spPr>
          <a:xfrm>
            <a:off x="4521200" y="2095500"/>
            <a:ext cx="381000" cy="381000"/>
          </a:xfrm>
          <a:prstGeom prst="ellipse">
            <a:avLst/>
          </a:prstGeom>
          <a:solidFill>
            <a:srgbClr val="4F6E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 11"/>
          <p:cNvSpPr/>
          <p:nvPr/>
        </p:nvSpPr>
        <p:spPr>
          <a:xfrm>
            <a:off x="4597400" y="2146300"/>
            <a:ext cx="2286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1000"/>
              </a:lnSpc>
            </a:pPr>
            <a:r>
              <a:rPr lang="en-US" sz="1600" b="1">
                <a:solidFill>
                  <a:srgbClr val="FFFFFF"/>
                </a:solidFill>
                <a:latin typeface="'PingFang SC'"/>
                <a:ea typeface="'Microsoft YaHei'"/>
              </a:rPr>
              <a:t>2</a:t>
            </a:r>
          </a:p>
        </p:txBody>
      </p:sp>
      <p:sp>
        <p:nvSpPr>
          <p:cNvPr id="18" name="rect 12"/>
          <p:cNvSpPr/>
          <p:nvPr/>
        </p:nvSpPr>
        <p:spPr>
          <a:xfrm>
            <a:off x="5016500" y="2120900"/>
            <a:ext cx="5588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800" b="1">
                <a:solidFill>
                  <a:srgbClr val="1D2433"/>
                </a:solidFill>
                <a:latin typeface="'PingFang SC'"/>
                <a:ea typeface="'PingFang SC'"/>
              </a:rPr>
              <a:t>提取</a:t>
            </a:r>
          </a:p>
        </p:txBody>
      </p:sp>
      <p:sp>
        <p:nvSpPr>
          <p:cNvPr id="19" name="rect 13"/>
          <p:cNvSpPr/>
          <p:nvPr/>
        </p:nvSpPr>
        <p:spPr>
          <a:xfrm>
            <a:off x="4635500" y="2565400"/>
            <a:ext cx="2159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351">
                <a:solidFill>
                  <a:srgbClr val="4A5468"/>
                </a:solidFill>
                <a:latin typeface="'PingFang SC'"/>
                <a:ea typeface="'PingFang SC'"/>
              </a:rPr>
              <a:t>规则预筛：闲聊直接过滤，</a:t>
            </a:r>
          </a:p>
        </p:txBody>
      </p:sp>
      <p:sp>
        <p:nvSpPr>
          <p:cNvPr id="20" name="rect 14"/>
          <p:cNvSpPr/>
          <p:nvPr/>
        </p:nvSpPr>
        <p:spPr>
          <a:xfrm>
            <a:off x="4635500" y="2844800"/>
            <a:ext cx="1473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351">
                <a:solidFill>
                  <a:srgbClr val="4A5468"/>
                </a:solidFill>
                <a:latin typeface="'PingFang SC'"/>
                <a:ea typeface="'PingFang SC'"/>
              </a:rPr>
              <a:t>省钱也保护隐私；</a:t>
            </a:r>
          </a:p>
        </p:txBody>
      </p:sp>
      <p:sp>
        <p:nvSpPr>
          <p:cNvPr id="21" name="rect 15"/>
          <p:cNvSpPr/>
          <p:nvPr/>
        </p:nvSpPr>
        <p:spPr>
          <a:xfrm>
            <a:off x="4635500" y="3124200"/>
            <a:ext cx="1701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351">
                <a:solidFill>
                  <a:srgbClr val="4A5468"/>
                </a:solidFill>
                <a:latin typeface="'PingFang SC'"/>
                <a:ea typeface="'PingFang SC'"/>
              </a:rPr>
              <a:t>AI 提取结构化日程，</a:t>
            </a:r>
          </a:p>
        </p:txBody>
      </p:sp>
      <p:sp>
        <p:nvSpPr>
          <p:cNvPr id="22" name="rect 16"/>
          <p:cNvSpPr/>
          <p:nvPr/>
        </p:nvSpPr>
        <p:spPr>
          <a:xfrm>
            <a:off x="4635500" y="3403600"/>
            <a:ext cx="1473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351">
                <a:solidFill>
                  <a:srgbClr val="4A5468"/>
                </a:solidFill>
                <a:latin typeface="'PingFang SC'"/>
                <a:ea typeface="'PingFang SC'"/>
              </a:rPr>
              <a:t>失败自动规则兜底</a:t>
            </a:r>
          </a:p>
        </p:txBody>
      </p:sp>
      <p:sp>
        <p:nvSpPr>
          <p:cNvPr id="23" name="roundRect 4"/>
          <p:cNvSpPr/>
          <p:nvPr/>
        </p:nvSpPr>
        <p:spPr>
          <a:xfrm>
            <a:off x="8305800" y="1930400"/>
            <a:ext cx="3429000" cy="1930400"/>
          </a:xfrm>
          <a:prstGeom prst="roundRect">
            <a:avLst>
              <a:gd fmla="val 9211" name="adj"/>
            </a:avLst>
          </a:prstGeom>
          <a:solidFill>
            <a:srgbClr val="FFFFFF"/>
          </a:solidFill>
          <a:ln w="12700">
            <a:solidFill>
              <a:srgbClr val="E4E8F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ellipse 3"/>
          <p:cNvSpPr/>
          <p:nvPr/>
        </p:nvSpPr>
        <p:spPr>
          <a:xfrm>
            <a:off x="8445500" y="2095500"/>
            <a:ext cx="381000" cy="381000"/>
          </a:xfrm>
          <a:prstGeom prst="ellipse">
            <a:avLst/>
          </a:prstGeom>
          <a:solidFill>
            <a:srgbClr val="7B5C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 17"/>
          <p:cNvSpPr/>
          <p:nvPr/>
        </p:nvSpPr>
        <p:spPr>
          <a:xfrm>
            <a:off x="8521700" y="2146300"/>
            <a:ext cx="2286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1000"/>
              </a:lnSpc>
            </a:pPr>
            <a:r>
              <a:rPr lang="en-US" sz="1600" b="1">
                <a:solidFill>
                  <a:srgbClr val="FFFFFF"/>
                </a:solidFill>
                <a:latin typeface="'PingFang SC'"/>
                <a:ea typeface="'Microsoft YaHei'"/>
              </a:rPr>
              <a:t>3</a:t>
            </a:r>
          </a:p>
        </p:txBody>
      </p:sp>
      <p:sp>
        <p:nvSpPr>
          <p:cNvPr id="26" name="rect 18"/>
          <p:cNvSpPr/>
          <p:nvPr/>
        </p:nvSpPr>
        <p:spPr>
          <a:xfrm>
            <a:off x="8940800" y="2120900"/>
            <a:ext cx="7874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800" b="1">
                <a:solidFill>
                  <a:srgbClr val="1D2433"/>
                </a:solidFill>
                <a:latin typeface="'PingFang SC'"/>
                <a:ea typeface="'PingFang SC'"/>
              </a:rPr>
              <a:t>待采纳</a:t>
            </a:r>
          </a:p>
        </p:txBody>
      </p:sp>
      <p:sp>
        <p:nvSpPr>
          <p:cNvPr id="27" name="rect 19"/>
          <p:cNvSpPr/>
          <p:nvPr/>
        </p:nvSpPr>
        <p:spPr>
          <a:xfrm>
            <a:off x="8559800" y="2565400"/>
            <a:ext cx="2336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351">
                <a:solidFill>
                  <a:srgbClr val="4A5468"/>
                </a:solidFill>
                <a:latin typeface="'PingFang SC'"/>
                <a:ea typeface="'PingFang SC'"/>
              </a:rPr>
              <a:t>识别结果以「待采纳」卡片进</a:t>
            </a:r>
          </a:p>
        </p:txBody>
      </p:sp>
      <p:sp>
        <p:nvSpPr>
          <p:cNvPr id="28" name="rect 20"/>
          <p:cNvSpPr/>
          <p:nvPr/>
        </p:nvSpPr>
        <p:spPr>
          <a:xfrm>
            <a:off x="8559800" y="2844800"/>
            <a:ext cx="2336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351">
                <a:solidFill>
                  <a:srgbClr val="4A5468"/>
                </a:solidFill>
                <a:latin typeface="'PingFang SC'"/>
                <a:ea typeface="'PingFang SC'"/>
              </a:rPr>
              <a:t>入对话流，可查看来源原文；</a:t>
            </a:r>
          </a:p>
        </p:txBody>
      </p:sp>
      <p:sp>
        <p:nvSpPr>
          <p:cNvPr id="29" name="rect 21"/>
          <p:cNvSpPr/>
          <p:nvPr/>
        </p:nvSpPr>
        <p:spPr>
          <a:xfrm>
            <a:off x="8559800" y="3124200"/>
            <a:ext cx="25273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351">
                <a:solidFill>
                  <a:srgbClr val="4A5468"/>
                </a:solidFill>
                <a:latin typeface="'PingFang SC'"/>
                <a:ea typeface="'PingFang SC'"/>
              </a:rPr>
              <a:t>采纳到日程 / 待办，或忽略——</a:t>
            </a:r>
          </a:p>
        </p:txBody>
      </p:sp>
      <p:sp>
        <p:nvSpPr>
          <p:cNvPr id="30" name="rect 22"/>
          <p:cNvSpPr/>
          <p:nvPr/>
        </p:nvSpPr>
        <p:spPr>
          <a:xfrm>
            <a:off x="8559800" y="3403600"/>
            <a:ext cx="13081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351">
                <a:solidFill>
                  <a:srgbClr val="4A5468"/>
                </a:solidFill>
                <a:latin typeface="'PingFang SC'"/>
                <a:ea typeface="'PingFang SC'"/>
              </a:rPr>
              <a:t>确认之后才写入</a:t>
            </a:r>
          </a:p>
        </p:txBody>
      </p:sp>
      <p:sp>
        <p:nvSpPr>
          <p:cNvPr id="31" name="rect 23"/>
          <p:cNvSpPr/>
          <p:nvPr/>
        </p:nvSpPr>
        <p:spPr>
          <a:xfrm>
            <a:off x="4013200" y="2895600"/>
            <a:ext cx="177800" cy="12700"/>
          </a:xfrm>
          <a:custGeom>
            <a:avLst/>
            <a:gdLst/>
            <a:ahLst/>
            <a:cxnLst/>
            <a:rect l="0" t="0" r="0" b="0"/>
            <a:pathLst>
              <a:path w="14" h="1">
                <a:moveTo>
                  <a:pt x="0" y="0"/>
                </a:moveTo>
                <a:lnTo>
                  <a:pt x="14" y="0"/>
                </a:lnTo>
              </a:path>
            </a:pathLst>
          </a:custGeom>
          <a:noFill/>
          <a:ln w="38100">
            <a:solidFill>
              <a:srgbClr val="AAB4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 24"/>
          <p:cNvSpPr/>
          <p:nvPr/>
        </p:nvSpPr>
        <p:spPr>
          <a:xfrm>
            <a:off x="4191000" y="2806700"/>
            <a:ext cx="127000" cy="177800"/>
          </a:xfrm>
          <a:custGeom>
            <a:avLst/>
            <a:gdLst/>
            <a:ahLst/>
            <a:cxnLst/>
            <a:rect l="0" t="0" r="0" b="0"/>
            <a:pathLst>
              <a:path w="10" h="14">
                <a:moveTo>
                  <a:pt x="0" y="0"/>
                </a:moveTo>
                <a:lnTo>
                  <a:pt x="10" y="7"/>
                </a:lnTo>
                <a:lnTo>
                  <a:pt x="0" y="14"/>
                </a:lnTo>
                <a:close/>
              </a:path>
            </a:pathLst>
          </a:custGeom>
          <a:solidFill>
            <a:srgbClr val="AAB4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 25"/>
          <p:cNvSpPr/>
          <p:nvPr/>
        </p:nvSpPr>
        <p:spPr>
          <a:xfrm>
            <a:off x="7937500" y="2895600"/>
            <a:ext cx="177800" cy="12700"/>
          </a:xfrm>
          <a:custGeom>
            <a:avLst/>
            <a:gdLst/>
            <a:ahLst/>
            <a:cxnLst/>
            <a:rect l="0" t="0" r="0" b="0"/>
            <a:pathLst>
              <a:path w="14" h="1">
                <a:moveTo>
                  <a:pt x="0" y="0"/>
                </a:moveTo>
                <a:lnTo>
                  <a:pt x="14" y="0"/>
                </a:lnTo>
              </a:path>
            </a:pathLst>
          </a:custGeom>
          <a:noFill/>
          <a:ln w="38100">
            <a:solidFill>
              <a:srgbClr val="AAB4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 26"/>
          <p:cNvSpPr/>
          <p:nvPr/>
        </p:nvSpPr>
        <p:spPr>
          <a:xfrm>
            <a:off x="8115300" y="2806700"/>
            <a:ext cx="127000" cy="177800"/>
          </a:xfrm>
          <a:custGeom>
            <a:avLst/>
            <a:gdLst/>
            <a:ahLst/>
            <a:cxnLst/>
            <a:rect l="0" t="0" r="0" b="0"/>
            <a:pathLst>
              <a:path w="10" h="14">
                <a:moveTo>
                  <a:pt x="0" y="0"/>
                </a:moveTo>
                <a:lnTo>
                  <a:pt x="10" y="7"/>
                </a:lnTo>
                <a:lnTo>
                  <a:pt x="0" y="14"/>
                </a:lnTo>
                <a:close/>
              </a:path>
            </a:pathLst>
          </a:custGeom>
          <a:solidFill>
            <a:srgbClr val="AAB4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ellipse 4"/>
          <p:cNvSpPr/>
          <p:nvPr/>
        </p:nvSpPr>
        <p:spPr>
          <a:xfrm>
            <a:off x="6064250" y="3956050"/>
            <a:ext cx="63500" cy="63500"/>
          </a:xfrm>
          <a:prstGeom prst="ellipse">
            <a:avLst/>
          </a:prstGeom>
          <a:solidFill>
            <a:srgbClr val="AAB4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ellipse 5"/>
          <p:cNvSpPr/>
          <p:nvPr/>
        </p:nvSpPr>
        <p:spPr>
          <a:xfrm>
            <a:off x="6064250" y="4108450"/>
            <a:ext cx="63500" cy="63500"/>
          </a:xfrm>
          <a:prstGeom prst="ellipse">
            <a:avLst/>
          </a:prstGeom>
          <a:solidFill>
            <a:srgbClr val="AAB4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 27"/>
          <p:cNvSpPr/>
          <p:nvPr/>
        </p:nvSpPr>
        <p:spPr>
          <a:xfrm>
            <a:off x="6096000" y="4038600"/>
            <a:ext cx="12700" cy="127000"/>
          </a:xfrm>
          <a:custGeom>
            <a:avLst/>
            <a:gdLst/>
            <a:ahLst/>
            <a:cxnLst/>
            <a:rect l="0" t="0" r="0" b="0"/>
            <a:pathLst>
              <a:path w="1" h="10">
                <a:moveTo>
                  <a:pt x="0" y="0"/>
                </a:moveTo>
                <a:lnTo>
                  <a:pt x="0" y="10"/>
                </a:lnTo>
              </a:path>
            </a:pathLst>
          </a:custGeom>
          <a:solidFill>
            <a:srgbClr val="000000"/>
          </a:solidFill>
          <a:ln w="38100">
            <a:solidFill>
              <a:srgbClr val="AAB4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 28"/>
          <p:cNvSpPr/>
          <p:nvPr/>
        </p:nvSpPr>
        <p:spPr>
          <a:xfrm>
            <a:off x="6007100" y="4191000"/>
            <a:ext cx="177800" cy="152400"/>
          </a:xfrm>
          <a:custGeom>
            <a:avLst/>
            <a:gdLst/>
            <a:ahLst/>
            <a:cxnLst/>
            <a:rect l="0" t="0" r="0" b="0"/>
            <a:pathLst>
              <a:path w="14" h="12">
                <a:moveTo>
                  <a:pt x="0" y="0"/>
                </a:moveTo>
                <a:lnTo>
                  <a:pt x="7" y="12"/>
                </a:lnTo>
                <a:lnTo>
                  <a:pt x="14" y="0"/>
                </a:lnTo>
                <a:close/>
              </a:path>
            </a:pathLst>
          </a:custGeom>
          <a:solidFill>
            <a:srgbClr val="AAB4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roundRect 5"/>
          <p:cNvSpPr/>
          <p:nvPr/>
        </p:nvSpPr>
        <p:spPr>
          <a:xfrm>
            <a:off x="457200" y="4470400"/>
            <a:ext cx="3429000" cy="1930400"/>
          </a:xfrm>
          <a:prstGeom prst="roundRect">
            <a:avLst>
              <a:gd fmla="val 9211" name="adj"/>
            </a:avLst>
          </a:prstGeom>
          <a:solidFill>
            <a:srgbClr val="FFFFFF"/>
          </a:solidFill>
          <a:ln w="12700">
            <a:solidFill>
              <a:srgbClr val="E4E8F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ellipse 6"/>
          <p:cNvSpPr/>
          <p:nvPr/>
        </p:nvSpPr>
        <p:spPr>
          <a:xfrm>
            <a:off x="596900" y="4635500"/>
            <a:ext cx="381000" cy="381000"/>
          </a:xfrm>
          <a:prstGeom prst="ellipse">
            <a:avLst/>
          </a:prstGeom>
          <a:solidFill>
            <a:srgbClr val="4F6E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 29"/>
          <p:cNvSpPr/>
          <p:nvPr/>
        </p:nvSpPr>
        <p:spPr>
          <a:xfrm>
            <a:off x="673100" y="4686300"/>
            <a:ext cx="2286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1000"/>
              </a:lnSpc>
            </a:pPr>
            <a:r>
              <a:rPr lang="en-US" sz="1600" b="1">
                <a:solidFill>
                  <a:srgbClr val="FFFFFF"/>
                </a:solidFill>
                <a:latin typeface="'PingFang SC'"/>
                <a:ea typeface="'Microsoft YaHei'"/>
              </a:rPr>
              <a:t>4</a:t>
            </a:r>
          </a:p>
        </p:txBody>
      </p:sp>
      <p:sp>
        <p:nvSpPr>
          <p:cNvPr id="42" name="rect 30"/>
          <p:cNvSpPr/>
          <p:nvPr/>
        </p:nvSpPr>
        <p:spPr>
          <a:xfrm>
            <a:off x="1092200" y="4660900"/>
            <a:ext cx="10160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800" b="1">
                <a:solidFill>
                  <a:srgbClr val="1D2433"/>
                </a:solidFill>
                <a:latin typeface="'PingFang SC'"/>
                <a:ea typeface="'PingFang SC'"/>
              </a:rPr>
              <a:t>分层记忆</a:t>
            </a:r>
          </a:p>
        </p:txBody>
      </p:sp>
      <p:sp>
        <p:nvSpPr>
          <p:cNvPr id="43" name="rect 31"/>
          <p:cNvSpPr/>
          <p:nvPr/>
        </p:nvSpPr>
        <p:spPr>
          <a:xfrm>
            <a:off x="711200" y="5105400"/>
            <a:ext cx="25781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351">
                <a:solidFill>
                  <a:srgbClr val="4A5468"/>
                </a:solidFill>
                <a:latin typeface="'PingFang SC'"/>
                <a:ea typeface="'PingFang SC'"/>
              </a:rPr>
              <a:t>结构化事实（日程/课程）为锚；</a:t>
            </a:r>
          </a:p>
        </p:txBody>
      </p:sp>
      <p:sp>
        <p:nvSpPr>
          <p:cNvPr id="44" name="rect 32"/>
          <p:cNvSpPr/>
          <p:nvPr/>
        </p:nvSpPr>
        <p:spPr>
          <a:xfrm>
            <a:off x="711200" y="5384800"/>
            <a:ext cx="2336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351">
                <a:solidFill>
                  <a:srgbClr val="4A5468"/>
                </a:solidFill>
                <a:latin typeface="'PingFang SC'"/>
                <a:ea typeface="'PingFang SC'"/>
              </a:rPr>
              <a:t>动态画像管「你现在怎么样」</a:t>
            </a:r>
          </a:p>
        </p:txBody>
      </p:sp>
      <p:sp>
        <p:nvSpPr>
          <p:cNvPr id="45" name="rect 33"/>
          <p:cNvSpPr/>
          <p:nvPr/>
        </p:nvSpPr>
        <p:spPr>
          <a:xfrm>
            <a:off x="711200" y="5664200"/>
            <a:ext cx="2032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351">
                <a:solidFill>
                  <a:srgbClr val="4A5468"/>
                </a:solidFill>
                <a:latin typeface="'PingFang SC'"/>
                <a:ea typeface="'PingFang SC'"/>
              </a:rPr>
              <a:t>（精力/负载/压力/处境）；</a:t>
            </a:r>
          </a:p>
        </p:txBody>
      </p:sp>
      <p:sp>
        <p:nvSpPr>
          <p:cNvPr id="46" name="rect 34"/>
          <p:cNvSpPr/>
          <p:nvPr/>
        </p:nvSpPr>
        <p:spPr>
          <a:xfrm>
            <a:off x="711200" y="5943600"/>
            <a:ext cx="19939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351">
                <a:solidFill>
                  <a:srgbClr val="4A5468"/>
                </a:solidFill>
                <a:latin typeface="'PingFang SC'"/>
                <a:ea typeface="'PingFang SC'"/>
              </a:rPr>
              <a:t>长期记忆只存偏好与性格</a:t>
            </a:r>
          </a:p>
        </p:txBody>
      </p:sp>
      <p:sp>
        <p:nvSpPr>
          <p:cNvPr id="47" name="roundRect 6"/>
          <p:cNvSpPr/>
          <p:nvPr/>
        </p:nvSpPr>
        <p:spPr>
          <a:xfrm>
            <a:off x="4381500" y="4470400"/>
            <a:ext cx="3429000" cy="1930400"/>
          </a:xfrm>
          <a:prstGeom prst="roundRect">
            <a:avLst>
              <a:gd fmla="val 9211" name="adj"/>
            </a:avLst>
          </a:prstGeom>
          <a:solidFill>
            <a:srgbClr val="FFFFFF"/>
          </a:solidFill>
          <a:ln w="12700">
            <a:solidFill>
              <a:srgbClr val="E4E8F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8" name="ellipse 7"/>
          <p:cNvSpPr/>
          <p:nvPr/>
        </p:nvSpPr>
        <p:spPr>
          <a:xfrm>
            <a:off x="4521200" y="4635500"/>
            <a:ext cx="381000" cy="381000"/>
          </a:xfrm>
          <a:prstGeom prst="ellipse">
            <a:avLst/>
          </a:prstGeom>
          <a:solidFill>
            <a:srgbClr val="4F6E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 35"/>
          <p:cNvSpPr/>
          <p:nvPr/>
        </p:nvSpPr>
        <p:spPr>
          <a:xfrm>
            <a:off x="4597400" y="4686300"/>
            <a:ext cx="2286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1000"/>
              </a:lnSpc>
            </a:pPr>
            <a:r>
              <a:rPr lang="en-US" sz="1600" b="1">
                <a:solidFill>
                  <a:srgbClr val="FFFFFF"/>
                </a:solidFill>
                <a:latin typeface="'PingFang SC'"/>
                <a:ea typeface="'Microsoft YaHei'"/>
              </a:rPr>
              <a:t>5</a:t>
            </a:r>
          </a:p>
        </p:txBody>
      </p:sp>
      <p:sp>
        <p:nvSpPr>
          <p:cNvPr id="50" name="rect 36"/>
          <p:cNvSpPr/>
          <p:nvPr/>
        </p:nvSpPr>
        <p:spPr>
          <a:xfrm>
            <a:off x="5016500" y="4660900"/>
            <a:ext cx="5588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800" b="1">
                <a:solidFill>
                  <a:srgbClr val="1D2433"/>
                </a:solidFill>
                <a:latin typeface="'PingFang SC'"/>
                <a:ea typeface="'PingFang SC'"/>
              </a:rPr>
              <a:t>规划</a:t>
            </a:r>
          </a:p>
        </p:txBody>
      </p:sp>
      <p:sp>
        <p:nvSpPr>
          <p:cNvPr id="51" name="rect 37"/>
          <p:cNvSpPr/>
          <p:nvPr/>
        </p:nvSpPr>
        <p:spPr>
          <a:xfrm>
            <a:off x="4635500" y="5105400"/>
            <a:ext cx="23876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351">
                <a:solidFill>
                  <a:srgbClr val="4A5468"/>
                </a:solidFill>
                <a:latin typeface="'PingFang SC'"/>
                <a:ea typeface="'PingFang SC'"/>
              </a:rPr>
              <a:t>AI 结合画像与精力曲线，只挑</a:t>
            </a:r>
          </a:p>
        </p:txBody>
      </p:sp>
      <p:sp>
        <p:nvSpPr>
          <p:cNvPr id="52" name="rect 38"/>
          <p:cNvSpPr/>
          <p:nvPr/>
        </p:nvSpPr>
        <p:spPr>
          <a:xfrm>
            <a:off x="4635500" y="5384800"/>
            <a:ext cx="2590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351">
                <a:solidFill>
                  <a:srgbClr val="4A5468"/>
                </a:solidFill>
                <a:latin typeface="'PingFang SC'"/>
                <a:ea typeface="'PingFang SC'"/>
              </a:rPr>
              <a:t>「现在值得做」的待办提议排期；</a:t>
            </a:r>
          </a:p>
        </p:txBody>
      </p:sp>
      <p:sp>
        <p:nvSpPr>
          <p:cNvPr id="53" name="rect 39"/>
          <p:cNvSpPr/>
          <p:nvPr/>
        </p:nvSpPr>
        <p:spPr>
          <a:xfrm>
            <a:off x="4635500" y="5664200"/>
            <a:ext cx="2336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351">
                <a:solidFill>
                  <a:srgbClr val="4A5468"/>
                </a:solidFill>
                <a:latin typeface="'PingFang SC'"/>
                <a:ea typeface="'PingFang SC'"/>
              </a:rPr>
              <a:t>能量引擎校验空闲与硬软线，</a:t>
            </a:r>
          </a:p>
        </p:txBody>
      </p:sp>
      <p:sp>
        <p:nvSpPr>
          <p:cNvPr id="54" name="rect 40"/>
          <p:cNvSpPr/>
          <p:nvPr/>
        </p:nvSpPr>
        <p:spPr>
          <a:xfrm>
            <a:off x="4635500" y="5943600"/>
            <a:ext cx="19939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351">
                <a:solidFill>
                  <a:srgbClr val="4A5468"/>
                </a:solidFill>
                <a:latin typeface="'PingFang SC'"/>
                <a:ea typeface="'PingFang SC'"/>
              </a:rPr>
              <a:t>给出完成概率与风险建议</a:t>
            </a:r>
          </a:p>
        </p:txBody>
      </p:sp>
      <p:sp>
        <p:nvSpPr>
          <p:cNvPr id="55" name="roundRect 7"/>
          <p:cNvSpPr/>
          <p:nvPr/>
        </p:nvSpPr>
        <p:spPr>
          <a:xfrm>
            <a:off x="8305800" y="4470400"/>
            <a:ext cx="3429000" cy="1930400"/>
          </a:xfrm>
          <a:prstGeom prst="roundRect">
            <a:avLst>
              <a:gd fmla="val 9211" name="adj"/>
            </a:avLst>
          </a:prstGeom>
          <a:solidFill>
            <a:srgbClr val="FFFFFF"/>
          </a:solidFill>
          <a:ln w="12700">
            <a:solidFill>
              <a:srgbClr val="E4E8F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" name="ellipse 8"/>
          <p:cNvSpPr/>
          <p:nvPr/>
        </p:nvSpPr>
        <p:spPr>
          <a:xfrm>
            <a:off x="8445500" y="4635500"/>
            <a:ext cx="381000" cy="381000"/>
          </a:xfrm>
          <a:prstGeom prst="ellipse">
            <a:avLst/>
          </a:prstGeom>
          <a:solidFill>
            <a:srgbClr val="7B5C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" name="rect 41"/>
          <p:cNvSpPr/>
          <p:nvPr/>
        </p:nvSpPr>
        <p:spPr>
          <a:xfrm>
            <a:off x="8940800" y="4660900"/>
            <a:ext cx="10160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800" b="1">
                <a:solidFill>
                  <a:srgbClr val="1D2433"/>
                </a:solidFill>
                <a:latin typeface="'PingFang SC'"/>
                <a:ea typeface="'PingFang SC'"/>
              </a:rPr>
              <a:t>反馈校准</a:t>
            </a:r>
          </a:p>
        </p:txBody>
      </p:sp>
      <p:sp>
        <p:nvSpPr>
          <p:cNvPr id="58" name="rect 42"/>
          <p:cNvSpPr/>
          <p:nvPr/>
        </p:nvSpPr>
        <p:spPr>
          <a:xfrm>
            <a:off x="8559800" y="5105400"/>
            <a:ext cx="2286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351">
                <a:solidFill>
                  <a:srgbClr val="4A5468"/>
                </a:solidFill>
                <a:latin typeface="'PingFang SC'"/>
                <a:ea typeface="'PingFang SC'"/>
              </a:rPr>
              <a:t>完成待办后点「轻松 / 正常 /</a:t>
            </a:r>
          </a:p>
        </p:txBody>
      </p:sp>
      <p:sp>
        <p:nvSpPr>
          <p:cNvPr id="59" name="rect 43"/>
          <p:cNvSpPr/>
          <p:nvPr/>
        </p:nvSpPr>
        <p:spPr>
          <a:xfrm>
            <a:off x="8559800" y="5384800"/>
            <a:ext cx="22479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351">
                <a:solidFill>
                  <a:srgbClr val="4A5468"/>
                </a:solidFill>
                <a:latin typeface="'PingFang SC'"/>
                <a:ea typeface="'PingFang SC'"/>
              </a:rPr>
              <a:t>吃力」，精力曲线按指数移动</a:t>
            </a:r>
          </a:p>
        </p:txBody>
      </p:sp>
      <p:sp>
        <p:nvSpPr>
          <p:cNvPr id="60" name="rect 44"/>
          <p:cNvSpPr/>
          <p:nvPr/>
        </p:nvSpPr>
        <p:spPr>
          <a:xfrm>
            <a:off x="8559800" y="5664200"/>
            <a:ext cx="2159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351">
                <a:solidFill>
                  <a:srgbClr val="4A5468"/>
                </a:solidFill>
                <a:latin typeface="'PingFang SC'"/>
                <a:ea typeface="'PingFang SC'"/>
              </a:rPr>
              <a:t>平均微调；排期与风险推演</a:t>
            </a:r>
          </a:p>
        </p:txBody>
      </p:sp>
      <p:sp>
        <p:nvSpPr>
          <p:cNvPr id="61" name="rect 45"/>
          <p:cNvSpPr/>
          <p:nvPr/>
        </p:nvSpPr>
        <p:spPr>
          <a:xfrm>
            <a:off x="8559800" y="5943600"/>
            <a:ext cx="19939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351">
                <a:solidFill>
                  <a:srgbClr val="4A5468"/>
                </a:solidFill>
                <a:latin typeface="'PingFang SC'"/>
                <a:ea typeface="'PingFang SC'"/>
              </a:rPr>
              <a:t>越用越贴合你的真实状态</a:t>
            </a:r>
          </a:p>
        </p:txBody>
      </p:sp>
      <p:sp>
        <p:nvSpPr>
          <p:cNvPr id="62" name="rect 46"/>
          <p:cNvSpPr/>
          <p:nvPr/>
        </p:nvSpPr>
        <p:spPr>
          <a:xfrm>
            <a:off x="4013200" y="5435600"/>
            <a:ext cx="177800" cy="12700"/>
          </a:xfrm>
          <a:custGeom>
            <a:avLst/>
            <a:gdLst/>
            <a:ahLst/>
            <a:cxnLst/>
            <a:rect l="0" t="0" r="0" b="0"/>
            <a:pathLst>
              <a:path w="14" h="1">
                <a:moveTo>
                  <a:pt x="0" y="0"/>
                </a:moveTo>
                <a:lnTo>
                  <a:pt x="14" y="0"/>
                </a:lnTo>
              </a:path>
            </a:pathLst>
          </a:custGeom>
          <a:noFill/>
          <a:ln w="38100">
            <a:solidFill>
              <a:srgbClr val="AAB4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3" name="rect 47"/>
          <p:cNvSpPr/>
          <p:nvPr/>
        </p:nvSpPr>
        <p:spPr>
          <a:xfrm>
            <a:off x="4191000" y="5346700"/>
            <a:ext cx="127000" cy="177800"/>
          </a:xfrm>
          <a:custGeom>
            <a:avLst/>
            <a:gdLst/>
            <a:ahLst/>
            <a:cxnLst/>
            <a:rect l="0" t="0" r="0" b="0"/>
            <a:pathLst>
              <a:path w="10" h="14">
                <a:moveTo>
                  <a:pt x="0" y="0"/>
                </a:moveTo>
                <a:lnTo>
                  <a:pt x="10" y="7"/>
                </a:lnTo>
                <a:lnTo>
                  <a:pt x="0" y="14"/>
                </a:lnTo>
                <a:close/>
              </a:path>
            </a:pathLst>
          </a:custGeom>
          <a:solidFill>
            <a:srgbClr val="AAB4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rect 48"/>
          <p:cNvSpPr/>
          <p:nvPr/>
        </p:nvSpPr>
        <p:spPr>
          <a:xfrm>
            <a:off x="7937500" y="5435600"/>
            <a:ext cx="177800" cy="12700"/>
          </a:xfrm>
          <a:custGeom>
            <a:avLst/>
            <a:gdLst/>
            <a:ahLst/>
            <a:cxnLst/>
            <a:rect l="0" t="0" r="0" b="0"/>
            <a:pathLst>
              <a:path w="14" h="1">
                <a:moveTo>
                  <a:pt x="0" y="0"/>
                </a:moveTo>
                <a:lnTo>
                  <a:pt x="14" y="0"/>
                </a:lnTo>
              </a:path>
            </a:pathLst>
          </a:custGeom>
          <a:noFill/>
          <a:ln w="38100">
            <a:solidFill>
              <a:srgbClr val="AAB4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5" name="rect 49"/>
          <p:cNvSpPr/>
          <p:nvPr/>
        </p:nvSpPr>
        <p:spPr>
          <a:xfrm>
            <a:off x="8115300" y="5346700"/>
            <a:ext cx="127000" cy="177800"/>
          </a:xfrm>
          <a:custGeom>
            <a:avLst/>
            <a:gdLst/>
            <a:ahLst/>
            <a:cxnLst/>
            <a:rect l="0" t="0" r="0" b="0"/>
            <a:pathLst>
              <a:path w="10" h="14">
                <a:moveTo>
                  <a:pt x="0" y="0"/>
                </a:moveTo>
                <a:lnTo>
                  <a:pt x="10" y="7"/>
                </a:lnTo>
                <a:lnTo>
                  <a:pt x="0" y="14"/>
                </a:lnTo>
                <a:close/>
              </a:path>
            </a:pathLst>
          </a:custGeom>
          <a:solidFill>
            <a:srgbClr val="AAB4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6" name="roundRect 8"/>
          <p:cNvSpPr/>
          <p:nvPr/>
        </p:nvSpPr>
        <p:spPr>
          <a:xfrm>
            <a:off x="457200" y="6553200"/>
            <a:ext cx="2260600" cy="304800"/>
          </a:xfrm>
          <a:prstGeom prst="roundRect">
            <a:avLst>
              <a:gd fmla="val 50000" name="adj"/>
            </a:avLst>
          </a:prstGeom>
          <a:solidFill>
            <a:srgbClr val="E3E8F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7" name="rect 50"/>
          <p:cNvSpPr/>
          <p:nvPr/>
        </p:nvSpPr>
        <p:spPr>
          <a:xfrm>
            <a:off x="819150" y="6591300"/>
            <a:ext cx="1536700" cy="190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4000"/>
              </a:lnSpc>
            </a:pPr>
            <a:r>
              <a:rPr lang="zh-CN" sz="1251" b="1">
                <a:solidFill>
                  <a:srgbClr val="3D55D9"/>
                </a:solidFill>
                <a:latin typeface="'PingFang SC'"/>
                <a:ea typeface="'PingFang SC'"/>
              </a:rPr>
              <a:t>冲突 / 超载红色提醒</a:t>
            </a:r>
          </a:p>
        </p:txBody>
      </p:sp>
      <p:sp>
        <p:nvSpPr>
          <p:cNvPr id="68" name="roundRect 9"/>
          <p:cNvSpPr/>
          <p:nvPr/>
        </p:nvSpPr>
        <p:spPr>
          <a:xfrm>
            <a:off x="2870200" y="6553200"/>
            <a:ext cx="1905000" cy="304800"/>
          </a:xfrm>
          <a:prstGeom prst="roundRect">
            <a:avLst>
              <a:gd fmla="val 50000" name="adj"/>
            </a:avLst>
          </a:prstGeom>
          <a:solidFill>
            <a:srgbClr val="E3E8F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9" name="rect 51"/>
          <p:cNvSpPr/>
          <p:nvPr/>
        </p:nvSpPr>
        <p:spPr>
          <a:xfrm>
            <a:off x="3213100" y="6591300"/>
            <a:ext cx="1219200" cy="190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4000"/>
              </a:lnSpc>
            </a:pPr>
            <a:r>
              <a:rPr lang="zh-CN" sz="1251" b="1">
                <a:solidFill>
                  <a:srgbClr val="3D55D9"/>
                </a:solidFill>
                <a:latin typeface="'PingFang SC'"/>
                <a:ea typeface="'PingFang SC'"/>
              </a:rPr>
              <a:t>智能挡箭牌话术</a:t>
            </a:r>
          </a:p>
        </p:txBody>
      </p:sp>
      <p:sp>
        <p:nvSpPr>
          <p:cNvPr id="70" name="roundRect 10"/>
          <p:cNvSpPr/>
          <p:nvPr/>
        </p:nvSpPr>
        <p:spPr>
          <a:xfrm>
            <a:off x="4927600" y="6553200"/>
            <a:ext cx="2336800" cy="304800"/>
          </a:xfrm>
          <a:prstGeom prst="roundRect">
            <a:avLst>
              <a:gd fmla="val 50000" name="adj"/>
            </a:avLst>
          </a:prstGeom>
          <a:solidFill>
            <a:srgbClr val="E3E8F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rect 52"/>
          <p:cNvSpPr/>
          <p:nvPr/>
        </p:nvSpPr>
        <p:spPr>
          <a:xfrm>
            <a:off x="5168900" y="6591300"/>
            <a:ext cx="1854200" cy="190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4000"/>
              </a:lnSpc>
            </a:pPr>
            <a:r>
              <a:rPr lang="zh-CN" sz="1251" b="1">
                <a:solidFill>
                  <a:srgbClr val="3D55D9"/>
                </a:solidFill>
                <a:latin typeface="'PingFang SC'"/>
                <a:ea typeface="'PingFang SC'"/>
              </a:rPr>
              <a:t>硬线不延 · 软线自动顺延</a:t>
            </a:r>
          </a:p>
        </p:txBody>
      </p:sp>
      <p:sp>
        <p:nvSpPr>
          <p:cNvPr id="72" name="roundRect 11"/>
          <p:cNvSpPr/>
          <p:nvPr/>
        </p:nvSpPr>
        <p:spPr>
          <a:xfrm>
            <a:off x="7416800" y="6553200"/>
            <a:ext cx="2489200" cy="304800"/>
          </a:xfrm>
          <a:prstGeom prst="roundRect">
            <a:avLst>
              <a:gd fmla="val 50000" name="adj"/>
            </a:avLst>
          </a:prstGeom>
          <a:solidFill>
            <a:srgbClr val="D9F2E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" name="rect 53"/>
          <p:cNvSpPr/>
          <p:nvPr/>
        </p:nvSpPr>
        <p:spPr>
          <a:xfrm>
            <a:off x="7861300" y="6591300"/>
            <a:ext cx="1600200" cy="190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4000"/>
              </a:lnSpc>
            </a:pPr>
            <a:r>
              <a:rPr lang="zh-CN" sz="1251" b="1">
                <a:solidFill>
                  <a:srgbClr val="0B7A3D"/>
                </a:solidFill>
                <a:latin typeface="'PingFang SC'"/>
                <a:ea typeface="'PingFang SC'"/>
              </a:rPr>
              <a:t>数据与 Key 只存本机</a:t>
            </a:r>
          </a:p>
        </p:txBody>
      </p:sp>
      <p:sp>
        <p:nvSpPr>
          <p:cNvPr id="74" name="rect 54"/>
          <p:cNvSpPr/>
          <p:nvPr/>
        </p:nvSpPr>
        <p:spPr>
          <a:xfrm>
            <a:off x="10312400" y="6578600"/>
            <a:ext cx="12573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</a:pPr>
            <a:r>
              <a:rPr lang="zh-CN" sz="1300" b="1">
                <a:solidFill>
                  <a:srgbClr val="66708A"/>
                </a:solidFill>
                <a:latin typeface="'PingFang SC'"/>
                <a:ea typeface="'PingFang SC'"/>
              </a:rPr>
              <a:t>不联网也全功能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1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oundRect 1"/>
          <p:cNvSpPr/>
          <p:nvPr/>
        </p:nvSpPr>
        <p:spPr>
          <a:xfrm>
            <a:off x="457200" y="381000"/>
            <a:ext cx="2489200" cy="431800"/>
          </a:xfrm>
          <a:prstGeom prst="roundRect">
            <a:avLst>
              <a:gd fmla="val 50000" name="adj"/>
            </a:avLst>
          </a:prstGeom>
          <a:solidFill>
            <a:srgbClr val="E3E8F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 2"/>
          <p:cNvSpPr/>
          <p:nvPr/>
        </p:nvSpPr>
        <p:spPr>
          <a:xfrm>
            <a:off x="895350" y="469900"/>
            <a:ext cx="16129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zh-CN" sz="1500" b="1">
                <a:solidFill>
                  <a:srgbClr val="4F6EF7"/>
                </a:solidFill>
                <a:latin typeface="'PingFang SC'"/>
                <a:ea typeface="'PingFang SC'"/>
              </a:rPr>
              <a:t>真实演示 1 · 截图</a:t>
            </a:r>
          </a:p>
        </p:txBody>
      </p:sp>
      <p:sp>
        <p:nvSpPr>
          <p:cNvPr id="5" name="rect 3"/>
          <p:cNvSpPr/>
          <p:nvPr/>
        </p:nvSpPr>
        <p:spPr>
          <a:xfrm>
            <a:off x="457200" y="812800"/>
            <a:ext cx="5943600" cy="482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1000"/>
              </a:lnSpc>
            </a:pPr>
            <a:r>
              <a:rPr lang="zh-CN" sz="3200" b="1">
                <a:solidFill>
                  <a:srgbClr val="1D2433"/>
                </a:solidFill>
                <a:latin typeface="'PingFang SC'"/>
                <a:ea typeface="'PingFang SC'"/>
              </a:rPr>
              <a:t>对话即录入：说人话，AI 帮你记</a:t>
            </a:r>
          </a:p>
        </p:txBody>
      </p:sp>
      <p:sp>
        <p:nvSpPr>
          <p:cNvPr id="6" name="rect 4"/>
          <p:cNvSpPr/>
          <p:nvPr/>
        </p:nvSpPr>
        <p:spPr>
          <a:xfrm>
            <a:off x="457200" y="1397000"/>
            <a:ext cx="53213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500">
                <a:solidFill>
                  <a:srgbClr val="66708A"/>
                </a:solidFill>
                <a:latin typeface="'PingFang SC'"/>
                <a:ea typeface="'PingFang SC'"/>
              </a:rPr>
              <a:t>左为能力要点，右侧截图是本机 127.0.0.1:8000 真实运行画面</a:t>
            </a:r>
          </a:p>
        </p:txBody>
      </p:sp>
      <p:sp>
        <p:nvSpPr>
          <p:cNvPr id="7" name="roundRect 2"/>
          <p:cNvSpPr/>
          <p:nvPr/>
        </p:nvSpPr>
        <p:spPr>
          <a:xfrm>
            <a:off x="457200" y="1930400"/>
            <a:ext cx="4089400" cy="4191000"/>
          </a:xfrm>
          <a:prstGeom prst="roundRect">
            <a:avLst>
              <a:gd fmla="val 4348" name="adj"/>
            </a:avLst>
          </a:prstGeom>
          <a:solidFill>
            <a:srgbClr val="FFFFFF"/>
          </a:solidFill>
          <a:ln w="12700">
            <a:solidFill>
              <a:srgbClr val="E4E8F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ellipse 1"/>
          <p:cNvSpPr/>
          <p:nvPr/>
        </p:nvSpPr>
        <p:spPr>
          <a:xfrm>
            <a:off x="622300" y="2197100"/>
            <a:ext cx="330200" cy="330200"/>
          </a:xfrm>
          <a:prstGeom prst="ellipse">
            <a:avLst/>
          </a:prstGeom>
          <a:solidFill>
            <a:srgbClr val="4F6E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 5"/>
          <p:cNvSpPr/>
          <p:nvPr/>
        </p:nvSpPr>
        <p:spPr>
          <a:xfrm>
            <a:off x="679450" y="2247900"/>
            <a:ext cx="2159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2000"/>
              </a:lnSpc>
            </a:pPr>
            <a:r>
              <a:rPr lang="en-US" sz="1300" b="1">
                <a:solidFill>
                  <a:srgbClr val="FFFFFF"/>
                </a:solidFill>
                <a:latin typeface="'PingFang SC'"/>
                <a:ea typeface="'Microsoft YaHei'"/>
              </a:rPr>
              <a:t>✓</a:t>
            </a:r>
          </a:p>
        </p:txBody>
      </p:sp>
      <p:sp>
        <p:nvSpPr>
          <p:cNvPr id="10" name="rect 6"/>
          <p:cNvSpPr/>
          <p:nvPr/>
        </p:nvSpPr>
        <p:spPr>
          <a:xfrm>
            <a:off x="1066800" y="2222500"/>
            <a:ext cx="16764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3000"/>
              </a:lnSpc>
            </a:pPr>
            <a:r>
              <a:rPr lang="zh-CN" sz="1551" b="1">
                <a:solidFill>
                  <a:srgbClr val="1D2433"/>
                </a:solidFill>
                <a:latin typeface="'PingFang SC'"/>
                <a:ea typeface="'PingFang SC'"/>
              </a:rPr>
              <a:t>中文数字照收不误</a:t>
            </a:r>
          </a:p>
        </p:txBody>
      </p:sp>
      <p:sp>
        <p:nvSpPr>
          <p:cNvPr id="11" name="rect 7"/>
          <p:cNvSpPr/>
          <p:nvPr/>
        </p:nvSpPr>
        <p:spPr>
          <a:xfrm>
            <a:off x="711200" y="2552700"/>
            <a:ext cx="3505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</a:pPr>
            <a:r>
              <a:rPr lang="zh-CN" sz="1300">
                <a:solidFill>
                  <a:srgbClr val="4A5468"/>
                </a:solidFill>
                <a:latin typeface="'PingFang SC'"/>
                <a:ea typeface="'PingFang SC'"/>
              </a:rPr>
              <a:t>「八点半去图书馆」→ 8:30 · 中文数字也能识别</a:t>
            </a:r>
          </a:p>
        </p:txBody>
      </p:sp>
      <p:sp>
        <p:nvSpPr>
          <p:cNvPr id="12" name="ellipse 2"/>
          <p:cNvSpPr/>
          <p:nvPr/>
        </p:nvSpPr>
        <p:spPr>
          <a:xfrm>
            <a:off x="622300" y="3009900"/>
            <a:ext cx="330200" cy="330200"/>
          </a:xfrm>
          <a:prstGeom prst="ellipse">
            <a:avLst/>
          </a:prstGeom>
          <a:solidFill>
            <a:srgbClr val="4F6E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 8"/>
          <p:cNvSpPr/>
          <p:nvPr/>
        </p:nvSpPr>
        <p:spPr>
          <a:xfrm>
            <a:off x="679450" y="3060700"/>
            <a:ext cx="2159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2000"/>
              </a:lnSpc>
            </a:pPr>
            <a:r>
              <a:rPr lang="en-US" sz="1300" b="1">
                <a:solidFill>
                  <a:srgbClr val="FFFFFF"/>
                </a:solidFill>
                <a:latin typeface="'PingFang SC'"/>
                <a:ea typeface="'Microsoft YaHei'"/>
              </a:rPr>
              <a:t>✓</a:t>
            </a:r>
          </a:p>
        </p:txBody>
      </p:sp>
      <p:sp>
        <p:nvSpPr>
          <p:cNvPr id="14" name="rect 9"/>
          <p:cNvSpPr/>
          <p:nvPr/>
        </p:nvSpPr>
        <p:spPr>
          <a:xfrm>
            <a:off x="1066800" y="3035300"/>
            <a:ext cx="24765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3000"/>
              </a:lnSpc>
            </a:pPr>
            <a:r>
              <a:rPr lang="zh-CN" sz="1551" b="1">
                <a:solidFill>
                  <a:srgbClr val="1D2433"/>
                </a:solidFill>
                <a:latin typeface="'PingFang SC'"/>
                <a:ea typeface="'PingFang SC'"/>
              </a:rPr>
              <a:t>时间 · 地点 · 类别自动归类</a:t>
            </a:r>
          </a:p>
        </p:txBody>
      </p:sp>
      <p:sp>
        <p:nvSpPr>
          <p:cNvPr id="15" name="rect 10"/>
          <p:cNvSpPr/>
          <p:nvPr/>
        </p:nvSpPr>
        <p:spPr>
          <a:xfrm>
            <a:off x="711200" y="3365500"/>
            <a:ext cx="3429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</a:pPr>
            <a:r>
              <a:rPr lang="zh-CN" sz="1300">
                <a:solidFill>
                  <a:srgbClr val="4A5468"/>
                </a:solidFill>
                <a:latin typeface="'PingFang SC'"/>
                <a:ea typeface="'PingFang SC'"/>
              </a:rPr>
              <a:t>「周四晚7点例会」→ 19:00 · 会议 · 教二401</a:t>
            </a:r>
          </a:p>
        </p:txBody>
      </p:sp>
      <p:sp>
        <p:nvSpPr>
          <p:cNvPr id="16" name="ellipse 3"/>
          <p:cNvSpPr/>
          <p:nvPr/>
        </p:nvSpPr>
        <p:spPr>
          <a:xfrm>
            <a:off x="622300" y="3822700"/>
            <a:ext cx="330200" cy="330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 11"/>
          <p:cNvSpPr/>
          <p:nvPr/>
        </p:nvSpPr>
        <p:spPr>
          <a:xfrm>
            <a:off x="673100" y="3873500"/>
            <a:ext cx="2286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2000"/>
              </a:lnSpc>
            </a:pPr>
            <a:r>
              <a:rPr lang="en-US" sz="1300" b="1">
                <a:solidFill>
                  <a:srgbClr val="FFFFFF"/>
                </a:solidFill>
                <a:latin typeface="'PingFang SC'"/>
                <a:ea typeface="'Microsoft YaHei'"/>
              </a:rPr>
              <a:t>≈</a:t>
            </a:r>
          </a:p>
        </p:txBody>
      </p:sp>
      <p:sp>
        <p:nvSpPr>
          <p:cNvPr id="18" name="rect 12"/>
          <p:cNvSpPr/>
          <p:nvPr/>
        </p:nvSpPr>
        <p:spPr>
          <a:xfrm>
            <a:off x="1066800" y="3848100"/>
            <a:ext cx="14859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3000"/>
              </a:lnSpc>
            </a:pPr>
            <a:r>
              <a:rPr lang="zh-CN" sz="1551" b="1">
                <a:solidFill>
                  <a:srgbClr val="1D2433"/>
                </a:solidFill>
                <a:latin typeface="'PingFang SC'"/>
                <a:ea typeface="'PingFang SC'"/>
              </a:rPr>
              <a:t>没时间？也不丢</a:t>
            </a:r>
          </a:p>
        </p:txBody>
      </p:sp>
      <p:sp>
        <p:nvSpPr>
          <p:cNvPr id="19" name="rect 13"/>
          <p:cNvSpPr/>
          <p:nvPr/>
        </p:nvSpPr>
        <p:spPr>
          <a:xfrm>
            <a:off x="711200" y="4178300"/>
            <a:ext cx="30353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</a:pPr>
            <a:r>
              <a:rPr lang="zh-CN" sz="1300">
                <a:solidFill>
                  <a:srgbClr val="4A5468"/>
                </a:solidFill>
                <a:latin typeface="'PingFang SC'"/>
                <a:ea typeface="'PingFang SC'"/>
              </a:rPr>
              <a:t>「帮我买牛奶」→ 落入待办池，绝不丢失</a:t>
            </a:r>
          </a:p>
        </p:txBody>
      </p:sp>
      <p:sp>
        <p:nvSpPr>
          <p:cNvPr id="20" name="ellipse 4"/>
          <p:cNvSpPr/>
          <p:nvPr/>
        </p:nvSpPr>
        <p:spPr>
          <a:xfrm>
            <a:off x="622300" y="4635500"/>
            <a:ext cx="330200" cy="330200"/>
          </a:xfrm>
          <a:prstGeom prst="ellipse">
            <a:avLst/>
          </a:prstGeom>
          <a:solidFill>
            <a:srgbClr val="12A1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 14"/>
          <p:cNvSpPr/>
          <p:nvPr/>
        </p:nvSpPr>
        <p:spPr>
          <a:xfrm>
            <a:off x="679450" y="4686300"/>
            <a:ext cx="2159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2000"/>
              </a:lnSpc>
            </a:pPr>
            <a:r>
              <a:rPr lang="en-US" sz="1300" b="1">
                <a:solidFill>
                  <a:srgbClr val="FFFFFF"/>
                </a:solidFill>
                <a:latin typeface="'PingFang SC'"/>
                <a:ea typeface="'Microsoft YaHei'"/>
              </a:rPr>
              <a:t>✓</a:t>
            </a:r>
          </a:p>
        </p:txBody>
      </p:sp>
      <p:sp>
        <p:nvSpPr>
          <p:cNvPr id="22" name="rect 15"/>
          <p:cNvSpPr/>
          <p:nvPr/>
        </p:nvSpPr>
        <p:spPr>
          <a:xfrm>
            <a:off x="1066800" y="4660900"/>
            <a:ext cx="14859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3000"/>
              </a:lnSpc>
            </a:pPr>
            <a:r>
              <a:rPr lang="zh-CN" sz="1551" b="1">
                <a:solidFill>
                  <a:srgbClr val="1D2433"/>
                </a:solidFill>
                <a:latin typeface="'PingFang SC'"/>
                <a:ea typeface="'PingFang SC'"/>
              </a:rPr>
              <a:t>先确认，再入库</a:t>
            </a:r>
          </a:p>
        </p:txBody>
      </p:sp>
      <p:sp>
        <p:nvSpPr>
          <p:cNvPr id="23" name="rect 16"/>
          <p:cNvSpPr/>
          <p:nvPr/>
        </p:nvSpPr>
        <p:spPr>
          <a:xfrm>
            <a:off x="711200" y="4991100"/>
            <a:ext cx="28321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</a:pPr>
            <a:r>
              <a:rPr lang="zh-CN" sz="1300">
                <a:solidFill>
                  <a:srgbClr val="4A5468"/>
                </a:solidFill>
                <a:latin typeface="'PingFang SC'"/>
                <a:ea typeface="'PingFang SC'"/>
              </a:rPr>
              <a:t>「待采纳」卡片附来源原文与置信度；</a:t>
            </a:r>
          </a:p>
        </p:txBody>
      </p:sp>
      <p:sp>
        <p:nvSpPr>
          <p:cNvPr id="24" name="rect 17"/>
          <p:cNvSpPr/>
          <p:nvPr/>
        </p:nvSpPr>
        <p:spPr>
          <a:xfrm>
            <a:off x="711200" y="5219700"/>
            <a:ext cx="3098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</a:pPr>
            <a:r>
              <a:rPr lang="zh-CN" sz="1300">
                <a:solidFill>
                  <a:srgbClr val="4A5468"/>
                </a:solidFill>
                <a:latin typeface="'PingFang SC'"/>
                <a:ea typeface="'PingFang SC'"/>
              </a:rPr>
              <a:t>点「采纳」或「忽略」——不替你做决定</a:t>
            </a:r>
          </a:p>
        </p:txBody>
      </p:sp>
      <p:sp>
        <p:nvSpPr>
          <p:cNvPr id="25" name="roundRect 3"/>
          <p:cNvSpPr/>
          <p:nvPr/>
        </p:nvSpPr>
        <p:spPr>
          <a:xfrm>
            <a:off x="711200" y="5689600"/>
            <a:ext cx="3581400" cy="330200"/>
          </a:xfrm>
          <a:prstGeom prst="roundRect">
            <a:avLst>
              <a:gd fmla="val 30769" name="adj"/>
            </a:avLst>
          </a:prstGeom>
          <a:solidFill>
            <a:srgbClr val="EEF2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 18"/>
          <p:cNvSpPr/>
          <p:nvPr/>
        </p:nvSpPr>
        <p:spPr>
          <a:xfrm>
            <a:off x="1200150" y="5753100"/>
            <a:ext cx="2603500" cy="190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4000"/>
              </a:lnSpc>
            </a:pPr>
            <a:r>
              <a:rPr lang="zh-CN" sz="1251" b="1">
                <a:solidFill>
                  <a:srgbClr val="3D55D9"/>
                </a:solidFill>
                <a:latin typeface="'PingFang SC'"/>
                <a:ea typeface="'PingFang SC'"/>
              </a:rPr>
              <a:t>冲突与 DDL 风险会随卡片一并提醒</a:t>
            </a:r>
          </a:p>
        </p:txBody>
      </p:sp>
      <p:sp>
        <p:nvSpPr>
          <p:cNvPr id="27" name="roundRect 4"/>
          <p:cNvSpPr/>
          <p:nvPr/>
        </p:nvSpPr>
        <p:spPr>
          <a:xfrm>
            <a:off x="4851400" y="1930400"/>
            <a:ext cx="6883400" cy="4724400"/>
          </a:xfrm>
          <a:prstGeom prst="roundRect">
            <a:avLst>
              <a:gd fmla="val 3763" name="adj"/>
            </a:avLst>
          </a:prstGeom>
          <a:solidFill>
            <a:srgbClr val="FFFFFF"/>
          </a:solidFill>
          <a:ln w="12700">
            <a:solidFill>
              <a:srgbClr val="D7DC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roundRect 5"/>
          <p:cNvSpPr/>
          <p:nvPr/>
        </p:nvSpPr>
        <p:spPr>
          <a:xfrm>
            <a:off x="4851400" y="1930400"/>
            <a:ext cx="6883400" cy="431800"/>
          </a:xfrm>
          <a:prstGeom prst="roundRect">
            <a:avLst>
              <a:gd fmla="val 41176" name="adj"/>
            </a:avLst>
          </a:prstGeom>
          <a:solidFill>
            <a:srgbClr val="F3F5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ellipse 5"/>
          <p:cNvSpPr/>
          <p:nvPr/>
        </p:nvSpPr>
        <p:spPr>
          <a:xfrm>
            <a:off x="5067300" y="2082800"/>
            <a:ext cx="127000" cy="127000"/>
          </a:xfrm>
          <a:prstGeom prst="ellipse">
            <a:avLst/>
          </a:prstGeom>
          <a:solidFill>
            <a:srgbClr val="E548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ellipse 6"/>
          <p:cNvSpPr/>
          <p:nvPr/>
        </p:nvSpPr>
        <p:spPr>
          <a:xfrm>
            <a:off x="5257800" y="2082800"/>
            <a:ext cx="127000" cy="127000"/>
          </a:xfrm>
          <a:prstGeom prst="ellipse">
            <a:avLst/>
          </a:prstGeom>
          <a:solidFill>
            <a:srgbClr val="F5A52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ellipse 7"/>
          <p:cNvSpPr/>
          <p:nvPr/>
        </p:nvSpPr>
        <p:spPr>
          <a:xfrm>
            <a:off x="5448300" y="2082800"/>
            <a:ext cx="127000" cy="127000"/>
          </a:xfrm>
          <a:prstGeom prst="ellipse">
            <a:avLst/>
          </a:prstGeom>
          <a:solidFill>
            <a:srgbClr val="12A1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roundRect 6"/>
          <p:cNvSpPr/>
          <p:nvPr/>
        </p:nvSpPr>
        <p:spPr>
          <a:xfrm>
            <a:off x="5740400" y="2006600"/>
            <a:ext cx="3556000" cy="279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w="12700">
            <a:solidFill>
              <a:srgbClr val="E4E8F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 19"/>
          <p:cNvSpPr/>
          <p:nvPr/>
        </p:nvSpPr>
        <p:spPr>
          <a:xfrm>
            <a:off x="6318250" y="2044700"/>
            <a:ext cx="24003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6000"/>
              </a:lnSpc>
            </a:pPr>
            <a:r>
              <a:rPr lang="zh-CN" sz="1151">
                <a:solidFill>
                  <a:srgbClr val="66708A"/>
                </a:solidFill>
                <a:latin typeface="'PingFang SC'"/>
                <a:ea typeface="'PingFang SC'"/>
              </a:rPr>
              <a:t>127.0.0.1:8000 · RUC Agent · 对话</a:t>
            </a:r>
          </a:p>
        </p:txBody>
      </p:sp>
      <p:pic>
        <p:nvPicPr>
          <p:cNvPr id="34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2438400"/>
            <a:ext cx="6680200" cy="4140200"/>
          </a:xfrm>
          <a:prstGeom prst="rect">
            <a:avLst/>
          </a:prstGeom>
        </p:spPr>
      </p:pic>
      <p:sp>
        <p:nvSpPr>
          <p:cNvPr id="35" name="roundRect 7"/>
          <p:cNvSpPr/>
          <p:nvPr/>
        </p:nvSpPr>
        <p:spPr>
          <a:xfrm>
            <a:off x="5054600" y="2590800"/>
            <a:ext cx="2006600" cy="381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w="25400">
            <a:solidFill>
              <a:srgbClr val="7B5C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ellipse 8"/>
          <p:cNvSpPr/>
          <p:nvPr/>
        </p:nvSpPr>
        <p:spPr>
          <a:xfrm>
            <a:off x="5168900" y="2692400"/>
            <a:ext cx="177800" cy="177800"/>
          </a:xfrm>
          <a:prstGeom prst="ellipse">
            <a:avLst/>
          </a:prstGeom>
          <a:solidFill>
            <a:srgbClr val="7B5C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 20"/>
          <p:cNvSpPr/>
          <p:nvPr/>
        </p:nvSpPr>
        <p:spPr>
          <a:xfrm>
            <a:off x="5181600" y="2667000"/>
            <a:ext cx="152400" cy="152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75000"/>
              </a:lnSpc>
            </a:pPr>
            <a:r>
              <a:rPr lang="en-US" sz="1000" b="1">
                <a:solidFill>
                  <a:srgbClr val="FFFFFF"/>
                </a:solidFill>
                <a:latin typeface="'PingFang SC'"/>
                <a:ea typeface="'Microsoft YaHei'"/>
              </a:rPr>
              <a:t>!</a:t>
            </a:r>
          </a:p>
        </p:txBody>
      </p:sp>
      <p:sp>
        <p:nvSpPr>
          <p:cNvPr id="38" name="rect 21"/>
          <p:cNvSpPr/>
          <p:nvPr/>
        </p:nvSpPr>
        <p:spPr>
          <a:xfrm>
            <a:off x="5435600" y="2679700"/>
            <a:ext cx="1524000" cy="190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4000"/>
              </a:lnSpc>
            </a:pPr>
            <a:r>
              <a:rPr lang="zh-CN" sz="1251" b="1">
                <a:solidFill>
                  <a:srgbClr val="5B3FD4"/>
                </a:solidFill>
                <a:latin typeface="'PingFang SC'"/>
                <a:ea typeface="'PingFang SC'"/>
              </a:rPr>
              <a:t>待采纳 · 2 项待确认</a:t>
            </a:r>
          </a:p>
        </p:txBody>
      </p:sp>
      <p:sp>
        <p:nvSpPr>
          <p:cNvPr id="39" name="roundRect 8"/>
          <p:cNvSpPr/>
          <p:nvPr/>
        </p:nvSpPr>
        <p:spPr>
          <a:xfrm>
            <a:off x="457200" y="6375400"/>
            <a:ext cx="11277600" cy="355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w="12700">
            <a:solidFill>
              <a:srgbClr val="E4E8F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 22"/>
          <p:cNvSpPr/>
          <p:nvPr/>
        </p:nvSpPr>
        <p:spPr>
          <a:xfrm>
            <a:off x="660400" y="6438900"/>
            <a:ext cx="1092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</a:pPr>
            <a:r>
              <a:rPr lang="zh-CN" sz="1300">
                <a:solidFill>
                  <a:srgbClr val="66708A"/>
                </a:solidFill>
                <a:latin typeface="'PingFang SC'"/>
                <a:ea typeface="'PingFang SC'"/>
              </a:rPr>
              <a:t>试着这样输入</a:t>
            </a:r>
          </a:p>
        </p:txBody>
      </p:sp>
      <p:sp>
        <p:nvSpPr>
          <p:cNvPr id="41" name="roundRect 9"/>
          <p:cNvSpPr/>
          <p:nvPr/>
        </p:nvSpPr>
        <p:spPr>
          <a:xfrm>
            <a:off x="1905000" y="6388100"/>
            <a:ext cx="4089400" cy="330200"/>
          </a:xfrm>
          <a:prstGeom prst="roundRect">
            <a:avLst>
              <a:gd fmla="val 50000" name="adj"/>
            </a:avLst>
          </a:prstGeom>
          <a:solidFill>
            <a:srgbClr val="F1F4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 23"/>
          <p:cNvSpPr/>
          <p:nvPr/>
        </p:nvSpPr>
        <p:spPr>
          <a:xfrm>
            <a:off x="2330450" y="6438900"/>
            <a:ext cx="32385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2000"/>
              </a:lnSpc>
            </a:pPr>
            <a:r>
              <a:rPr lang="zh-CN" sz="1300">
                <a:solidFill>
                  <a:srgbClr val="4A5468"/>
                </a:solidFill>
                <a:latin typeface="'PingFang SC'"/>
                <a:ea typeface="'PingFang SC'"/>
              </a:rPr>
              <a:t>9月6日下午3点到体育馆参加羽毛球比赛</a:t>
            </a:r>
          </a:p>
        </p:txBody>
      </p:sp>
      <p:sp>
        <p:nvSpPr>
          <p:cNvPr id="43" name="rect 24"/>
          <p:cNvSpPr/>
          <p:nvPr/>
        </p:nvSpPr>
        <p:spPr>
          <a:xfrm>
            <a:off x="6172200" y="6388100"/>
            <a:ext cx="279400" cy="177800"/>
          </a:xfrm>
          <a:custGeom>
            <a:avLst/>
            <a:gdLst/>
            <a:ahLst/>
            <a:cxnLst/>
            <a:rect l="0" t="0" r="0" b="0"/>
            <a:pathLst>
              <a:path w="22" h="14">
                <a:moveTo>
                  <a:pt x="0" y="7"/>
                </a:moveTo>
                <a:lnTo>
                  <a:pt x="14" y="7"/>
                </a:lnTo>
                <a:moveTo>
                  <a:pt x="14" y="0"/>
                </a:moveTo>
                <a:lnTo>
                  <a:pt x="22" y="7"/>
                </a:lnTo>
                <a:lnTo>
                  <a:pt x="14" y="14"/>
                </a:lnTo>
              </a:path>
            </a:pathLst>
          </a:custGeom>
          <a:noFill/>
          <a:ln w="31750">
            <a:solidFill>
              <a:srgbClr val="4F6EF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roundRect 10"/>
          <p:cNvSpPr/>
          <p:nvPr/>
        </p:nvSpPr>
        <p:spPr>
          <a:xfrm>
            <a:off x="6477000" y="6388100"/>
            <a:ext cx="4191000" cy="330200"/>
          </a:xfrm>
          <a:prstGeom prst="roundRect">
            <a:avLst>
              <a:gd fmla="val 50000" name="adj"/>
            </a:avLst>
          </a:prstGeom>
          <a:gradFill rotWithShape="1">
            <a:gsLst>
              <a:gs pos="0">
                <a:srgbClr val="4F6EF7"/>
              </a:gs>
              <a:gs pos="100000">
                <a:srgbClr val="7B5CF0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 25"/>
          <p:cNvSpPr/>
          <p:nvPr/>
        </p:nvSpPr>
        <p:spPr>
          <a:xfrm>
            <a:off x="6940550" y="6438900"/>
            <a:ext cx="32639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2000"/>
              </a:lnSpc>
            </a:pPr>
            <a:r>
              <a:rPr lang="zh-CN" sz="1300" b="1">
                <a:solidFill>
                  <a:srgbClr val="FFFFFF"/>
                </a:solidFill>
                <a:latin typeface="'PingFang SC'"/>
                <a:ea typeface="'PingFang SC'"/>
              </a:rPr>
              <a:t>9月6日 15:00 · 体育馆 · 活动 · 耗能 2/5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1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oundRect 1"/>
          <p:cNvSpPr/>
          <p:nvPr/>
        </p:nvSpPr>
        <p:spPr>
          <a:xfrm>
            <a:off x="457200" y="381000"/>
            <a:ext cx="2489200" cy="431800"/>
          </a:xfrm>
          <a:prstGeom prst="roundRect">
            <a:avLst>
              <a:gd fmla="val 50000" name="adj"/>
            </a:avLst>
          </a:prstGeom>
          <a:solidFill>
            <a:srgbClr val="E3E8F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 2"/>
          <p:cNvSpPr/>
          <p:nvPr/>
        </p:nvSpPr>
        <p:spPr>
          <a:xfrm>
            <a:off x="895350" y="469900"/>
            <a:ext cx="16129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zh-CN" sz="1500" b="1">
                <a:solidFill>
                  <a:srgbClr val="4F6EF7"/>
                </a:solidFill>
                <a:latin typeface="'PingFang SC'"/>
                <a:ea typeface="'PingFang SC'"/>
              </a:rPr>
              <a:t>真实演示 2 · 截图</a:t>
            </a:r>
          </a:p>
        </p:txBody>
      </p:sp>
      <p:sp>
        <p:nvSpPr>
          <p:cNvPr id="5" name="rect 3"/>
          <p:cNvSpPr/>
          <p:nvPr/>
        </p:nvSpPr>
        <p:spPr>
          <a:xfrm>
            <a:off x="457200" y="812800"/>
            <a:ext cx="7315200" cy="482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1000"/>
              </a:lnSpc>
            </a:pPr>
            <a:r>
              <a:rPr lang="zh-CN" sz="3200" b="1">
                <a:solidFill>
                  <a:srgbClr val="1D2433"/>
                </a:solidFill>
                <a:latin typeface="'PingFang SC'"/>
                <a:ea typeface="'PingFang SC'"/>
              </a:rPr>
              <a:t>计划页：AI 选择性排期 + 能量引擎校验</a:t>
            </a:r>
          </a:p>
        </p:txBody>
      </p:sp>
      <p:sp>
        <p:nvSpPr>
          <p:cNvPr id="6" name="rect 4"/>
          <p:cNvSpPr/>
          <p:nvPr/>
        </p:nvSpPr>
        <p:spPr>
          <a:xfrm>
            <a:off x="457200" y="1397000"/>
            <a:ext cx="61341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500">
                <a:solidFill>
                  <a:srgbClr val="66708A"/>
                </a:solidFill>
                <a:latin typeface="'PingFang SC'"/>
                <a:ea typeface="'PingFang SC'"/>
              </a:rPr>
              <a:t>只挑「现在值得做」的待办 · 给完成概率与风险 · 采纳后才写入对应日期</a:t>
            </a:r>
          </a:p>
        </p:txBody>
      </p:sp>
      <p:sp>
        <p:nvSpPr>
          <p:cNvPr id="7" name="roundRect 2"/>
          <p:cNvSpPr/>
          <p:nvPr/>
        </p:nvSpPr>
        <p:spPr>
          <a:xfrm>
            <a:off x="457200" y="1930400"/>
            <a:ext cx="6883400" cy="4724400"/>
          </a:xfrm>
          <a:prstGeom prst="roundRect">
            <a:avLst>
              <a:gd fmla="val 3763" name="adj"/>
            </a:avLst>
          </a:prstGeom>
          <a:solidFill>
            <a:srgbClr val="FFFFFF"/>
          </a:solidFill>
          <a:ln w="12700">
            <a:solidFill>
              <a:srgbClr val="D7DC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oundRect 3"/>
          <p:cNvSpPr/>
          <p:nvPr/>
        </p:nvSpPr>
        <p:spPr>
          <a:xfrm>
            <a:off x="457200" y="1930400"/>
            <a:ext cx="6883400" cy="431800"/>
          </a:xfrm>
          <a:prstGeom prst="roundRect">
            <a:avLst>
              <a:gd fmla="val 41176" name="adj"/>
            </a:avLst>
          </a:prstGeom>
          <a:solidFill>
            <a:srgbClr val="F3F5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ellipse 1"/>
          <p:cNvSpPr/>
          <p:nvPr/>
        </p:nvSpPr>
        <p:spPr>
          <a:xfrm>
            <a:off x="673100" y="2082800"/>
            <a:ext cx="127000" cy="127000"/>
          </a:xfrm>
          <a:prstGeom prst="ellipse">
            <a:avLst/>
          </a:prstGeom>
          <a:solidFill>
            <a:srgbClr val="E548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ellipse 2"/>
          <p:cNvSpPr/>
          <p:nvPr/>
        </p:nvSpPr>
        <p:spPr>
          <a:xfrm>
            <a:off x="863600" y="2082800"/>
            <a:ext cx="127000" cy="127000"/>
          </a:xfrm>
          <a:prstGeom prst="ellipse">
            <a:avLst/>
          </a:prstGeom>
          <a:solidFill>
            <a:srgbClr val="F5A52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ellipse 3"/>
          <p:cNvSpPr/>
          <p:nvPr/>
        </p:nvSpPr>
        <p:spPr>
          <a:xfrm>
            <a:off x="1054100" y="2082800"/>
            <a:ext cx="127000" cy="127000"/>
          </a:xfrm>
          <a:prstGeom prst="ellipse">
            <a:avLst/>
          </a:prstGeom>
          <a:solidFill>
            <a:srgbClr val="12A1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Rect 4"/>
          <p:cNvSpPr/>
          <p:nvPr/>
        </p:nvSpPr>
        <p:spPr>
          <a:xfrm>
            <a:off x="1346200" y="2006600"/>
            <a:ext cx="3556000" cy="279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w="12700">
            <a:solidFill>
              <a:srgbClr val="E4E8F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 5"/>
          <p:cNvSpPr/>
          <p:nvPr/>
        </p:nvSpPr>
        <p:spPr>
          <a:xfrm>
            <a:off x="2292350" y="2044700"/>
            <a:ext cx="16637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6000"/>
              </a:lnSpc>
            </a:pPr>
            <a:r>
              <a:rPr lang="zh-CN" sz="1151">
                <a:solidFill>
                  <a:srgbClr val="66708A"/>
                </a:solidFill>
                <a:latin typeface="'PingFang SC'"/>
                <a:ea typeface="'PingFang SC'"/>
              </a:rPr>
              <a:t>127.0.0.1:8000 · 计划页</a:t>
            </a:r>
          </a:p>
        </p:txBody>
      </p:sp>
      <p:pic>
        <p:nvPicPr>
          <p:cNvPr id="14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2438400"/>
            <a:ext cx="6680200" cy="4140200"/>
          </a:xfrm>
          <a:prstGeom prst="rect">
            <a:avLst/>
          </a:prstGeom>
        </p:spPr>
      </p:pic>
      <p:sp>
        <p:nvSpPr>
          <p:cNvPr id="15" name="roundRect 5"/>
          <p:cNvSpPr/>
          <p:nvPr/>
        </p:nvSpPr>
        <p:spPr>
          <a:xfrm>
            <a:off x="660400" y="2590800"/>
            <a:ext cx="1905000" cy="381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w="25400">
            <a:solidFill>
              <a:srgbClr val="4F6EF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 6"/>
          <p:cNvSpPr/>
          <p:nvPr/>
        </p:nvSpPr>
        <p:spPr>
          <a:xfrm>
            <a:off x="762000" y="2679700"/>
            <a:ext cx="1701800" cy="190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4000"/>
              </a:lnSpc>
            </a:pPr>
            <a:r>
              <a:rPr lang="zh-CN" sz="1251" b="1">
                <a:solidFill>
                  <a:srgbClr val="3D55D9"/>
                </a:solidFill>
                <a:latin typeface="'PingFang SC'"/>
                <a:ea typeface="'PingFang SC'"/>
              </a:rPr>
              <a:t>排程建议 · 可一键采纳</a:t>
            </a:r>
          </a:p>
        </p:txBody>
      </p:sp>
      <p:sp>
        <p:nvSpPr>
          <p:cNvPr id="17" name="roundRect 6"/>
          <p:cNvSpPr/>
          <p:nvPr/>
        </p:nvSpPr>
        <p:spPr>
          <a:xfrm>
            <a:off x="7645400" y="1930400"/>
            <a:ext cx="4089400" cy="4191000"/>
          </a:xfrm>
          <a:prstGeom prst="roundRect">
            <a:avLst>
              <a:gd fmla="val 4348" name="adj"/>
            </a:avLst>
          </a:prstGeom>
          <a:solidFill>
            <a:srgbClr val="FFFFFF"/>
          </a:solidFill>
          <a:ln w="12700">
            <a:solidFill>
              <a:srgbClr val="E4E8F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ellipse 4"/>
          <p:cNvSpPr/>
          <p:nvPr/>
        </p:nvSpPr>
        <p:spPr>
          <a:xfrm>
            <a:off x="7810500" y="2273300"/>
            <a:ext cx="330200" cy="330200"/>
          </a:xfrm>
          <a:prstGeom prst="ellipse">
            <a:avLst/>
          </a:prstGeom>
          <a:solidFill>
            <a:srgbClr val="4F6E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 7"/>
          <p:cNvSpPr/>
          <p:nvPr/>
        </p:nvSpPr>
        <p:spPr>
          <a:xfrm>
            <a:off x="7874000" y="2324100"/>
            <a:ext cx="203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2000"/>
              </a:lnSpc>
            </a:pPr>
            <a:r>
              <a:rPr lang="en-US" sz="1300" b="1">
                <a:solidFill>
                  <a:srgbClr val="FFFFFF"/>
                </a:solidFill>
                <a:latin typeface="'PingFang SC'"/>
                <a:ea typeface="'Microsoft YaHei'"/>
              </a:rPr>
              <a:t>1</a:t>
            </a:r>
          </a:p>
        </p:txBody>
      </p:sp>
      <p:sp>
        <p:nvSpPr>
          <p:cNvPr id="20" name="rect 8"/>
          <p:cNvSpPr/>
          <p:nvPr/>
        </p:nvSpPr>
        <p:spPr>
          <a:xfrm>
            <a:off x="8255000" y="2298700"/>
            <a:ext cx="20701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500" b="1">
                <a:solidFill>
                  <a:srgbClr val="1D2433"/>
                </a:solidFill>
                <a:latin typeface="'PingFang SC'"/>
                <a:ea typeface="'PingFang SC'"/>
              </a:rPr>
              <a:t>今日能量环 + 精力曲线</a:t>
            </a:r>
          </a:p>
        </p:txBody>
      </p:sp>
      <p:sp>
        <p:nvSpPr>
          <p:cNvPr id="21" name="rect 9"/>
          <p:cNvSpPr/>
          <p:nvPr/>
        </p:nvSpPr>
        <p:spPr>
          <a:xfrm>
            <a:off x="7899400" y="2667000"/>
            <a:ext cx="34036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</a:pPr>
            <a:r>
              <a:rPr lang="zh-CN" sz="1300">
                <a:solidFill>
                  <a:srgbClr val="4A5468"/>
                </a:solidFill>
                <a:latin typeface="'PingFang SC'"/>
                <a:ea typeface="'PingFang SC'"/>
              </a:rPr>
              <a:t>07–23 点逐小时；完成反馈按 EMA 自动校准</a:t>
            </a:r>
          </a:p>
        </p:txBody>
      </p:sp>
      <p:sp>
        <p:nvSpPr>
          <p:cNvPr id="22" name="ellipse 5"/>
          <p:cNvSpPr/>
          <p:nvPr/>
        </p:nvSpPr>
        <p:spPr>
          <a:xfrm>
            <a:off x="7810500" y="3162300"/>
            <a:ext cx="330200" cy="330200"/>
          </a:xfrm>
          <a:prstGeom prst="ellipse">
            <a:avLst/>
          </a:prstGeom>
          <a:solidFill>
            <a:srgbClr val="4F6E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 10"/>
          <p:cNvSpPr/>
          <p:nvPr/>
        </p:nvSpPr>
        <p:spPr>
          <a:xfrm>
            <a:off x="7874000" y="3213100"/>
            <a:ext cx="203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2000"/>
              </a:lnSpc>
            </a:pPr>
            <a:r>
              <a:rPr lang="en-US" sz="1300" b="1">
                <a:solidFill>
                  <a:srgbClr val="FFFFFF"/>
                </a:solidFill>
                <a:latin typeface="'PingFang SC'"/>
                <a:ea typeface="'Microsoft YaHei'"/>
              </a:rPr>
              <a:t>2</a:t>
            </a:r>
          </a:p>
        </p:txBody>
      </p:sp>
      <p:sp>
        <p:nvSpPr>
          <p:cNvPr id="24" name="rect 11"/>
          <p:cNvSpPr/>
          <p:nvPr/>
        </p:nvSpPr>
        <p:spPr>
          <a:xfrm>
            <a:off x="8255000" y="3187700"/>
            <a:ext cx="10541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500" b="1">
                <a:solidFill>
                  <a:srgbClr val="1D2433"/>
                </a:solidFill>
                <a:latin typeface="'PingFang SC'"/>
                <a:ea typeface="'PingFang SC'"/>
              </a:rPr>
              <a:t>选择性排期</a:t>
            </a:r>
          </a:p>
        </p:txBody>
      </p:sp>
      <p:sp>
        <p:nvSpPr>
          <p:cNvPr id="25" name="rect 12"/>
          <p:cNvSpPr/>
          <p:nvPr/>
        </p:nvSpPr>
        <p:spPr>
          <a:xfrm>
            <a:off x="7899400" y="3556000"/>
            <a:ext cx="30099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</a:pPr>
            <a:r>
              <a:rPr lang="zh-CN" sz="1300">
                <a:solidFill>
                  <a:srgbClr val="4A5468"/>
                </a:solidFill>
                <a:latin typeface="'PingFang SC'"/>
                <a:ea typeface="'PingFang SC'"/>
              </a:rPr>
              <a:t>远的 DDL 不提前刷屏，跳过可随时召回</a:t>
            </a:r>
          </a:p>
        </p:txBody>
      </p:sp>
      <p:sp>
        <p:nvSpPr>
          <p:cNvPr id="26" name="ellipse 6"/>
          <p:cNvSpPr/>
          <p:nvPr/>
        </p:nvSpPr>
        <p:spPr>
          <a:xfrm>
            <a:off x="7810500" y="4051300"/>
            <a:ext cx="330200" cy="330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 13"/>
          <p:cNvSpPr/>
          <p:nvPr/>
        </p:nvSpPr>
        <p:spPr>
          <a:xfrm>
            <a:off x="7874000" y="4102100"/>
            <a:ext cx="203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2000"/>
              </a:lnSpc>
            </a:pPr>
            <a:r>
              <a:rPr lang="en-US" sz="1300" b="1">
                <a:solidFill>
                  <a:srgbClr val="FFFFFF"/>
                </a:solidFill>
                <a:latin typeface="'PingFang SC'"/>
                <a:ea typeface="'Microsoft YaHei'"/>
              </a:rPr>
              <a:t>3</a:t>
            </a:r>
          </a:p>
        </p:txBody>
      </p:sp>
      <p:sp>
        <p:nvSpPr>
          <p:cNvPr id="28" name="rect 14"/>
          <p:cNvSpPr/>
          <p:nvPr/>
        </p:nvSpPr>
        <p:spPr>
          <a:xfrm>
            <a:off x="8255000" y="4076700"/>
            <a:ext cx="1244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500" b="1">
                <a:solidFill>
                  <a:srgbClr val="1D2433"/>
                </a:solidFill>
                <a:latin typeface="'PingFang SC'"/>
                <a:ea typeface="'PingFang SC'"/>
              </a:rPr>
              <a:t>完成概率推演</a:t>
            </a:r>
          </a:p>
        </p:txBody>
      </p:sp>
      <p:sp>
        <p:nvSpPr>
          <p:cNvPr id="29" name="rect 15"/>
          <p:cNvSpPr/>
          <p:nvPr/>
        </p:nvSpPr>
        <p:spPr>
          <a:xfrm>
            <a:off x="7899400" y="4445000"/>
            <a:ext cx="2743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</a:pPr>
            <a:r>
              <a:rPr lang="zh-CN" sz="1300">
                <a:solidFill>
                  <a:srgbClr val="4A5468"/>
                </a:solidFill>
                <a:latin typeface="'PingFang SC'"/>
                <a:ea typeface="'PingFang SC'"/>
              </a:rPr>
              <a:t>低概率给风险提示与拆分 / 降标建议</a:t>
            </a:r>
          </a:p>
        </p:txBody>
      </p:sp>
      <p:sp>
        <p:nvSpPr>
          <p:cNvPr id="30" name="ellipse 7"/>
          <p:cNvSpPr/>
          <p:nvPr/>
        </p:nvSpPr>
        <p:spPr>
          <a:xfrm>
            <a:off x="7810500" y="4940300"/>
            <a:ext cx="330200" cy="330200"/>
          </a:xfrm>
          <a:prstGeom prst="ellipse">
            <a:avLst/>
          </a:prstGeom>
          <a:solidFill>
            <a:srgbClr val="12A1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 16"/>
          <p:cNvSpPr/>
          <p:nvPr/>
        </p:nvSpPr>
        <p:spPr>
          <a:xfrm>
            <a:off x="7874000" y="4991100"/>
            <a:ext cx="203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2000"/>
              </a:lnSpc>
            </a:pPr>
            <a:r>
              <a:rPr lang="en-US" sz="1300" b="1">
                <a:solidFill>
                  <a:srgbClr val="FFFFFF"/>
                </a:solidFill>
                <a:latin typeface="'PingFang SC'"/>
                <a:ea typeface="'Microsoft YaHei'"/>
              </a:rPr>
              <a:t>4</a:t>
            </a:r>
          </a:p>
        </p:txBody>
      </p:sp>
      <p:sp>
        <p:nvSpPr>
          <p:cNvPr id="32" name="rect 17"/>
          <p:cNvSpPr/>
          <p:nvPr/>
        </p:nvSpPr>
        <p:spPr>
          <a:xfrm>
            <a:off x="8255000" y="4965700"/>
            <a:ext cx="18161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500" b="1">
                <a:solidFill>
                  <a:srgbClr val="1D2433"/>
                </a:solidFill>
                <a:latin typeface="'PingFang SC'"/>
                <a:ea typeface="'PingFang SC'"/>
              </a:rPr>
              <a:t>引擎只做校验与兜底</a:t>
            </a:r>
          </a:p>
        </p:txBody>
      </p:sp>
      <p:sp>
        <p:nvSpPr>
          <p:cNvPr id="33" name="rect 18"/>
          <p:cNvSpPr/>
          <p:nvPr/>
        </p:nvSpPr>
        <p:spPr>
          <a:xfrm>
            <a:off x="7899400" y="5334000"/>
            <a:ext cx="3175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</a:pPr>
            <a:r>
              <a:rPr lang="zh-CN" sz="1300">
                <a:solidFill>
                  <a:srgbClr val="4A5468"/>
                </a:solidFill>
                <a:latin typeface="'PingFang SC'"/>
                <a:ea typeface="'PingFang SC'"/>
              </a:rPr>
              <a:t>排期不落过去；超载时软线 DDL 自动顺延</a:t>
            </a:r>
          </a:p>
        </p:txBody>
      </p:sp>
      <p:sp>
        <p:nvSpPr>
          <p:cNvPr id="34" name="roundRect 7"/>
          <p:cNvSpPr/>
          <p:nvPr/>
        </p:nvSpPr>
        <p:spPr>
          <a:xfrm>
            <a:off x="7899400" y="5740400"/>
            <a:ext cx="3581400" cy="330200"/>
          </a:xfrm>
          <a:prstGeom prst="roundRect">
            <a:avLst>
              <a:gd fmla="val 30769" name="adj"/>
            </a:avLst>
          </a:prstGeom>
          <a:solidFill>
            <a:srgbClr val="EEF2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 19"/>
          <p:cNvSpPr/>
          <p:nvPr/>
        </p:nvSpPr>
        <p:spPr>
          <a:xfrm>
            <a:off x="8210550" y="5803900"/>
            <a:ext cx="2959100" cy="190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4000"/>
              </a:lnSpc>
            </a:pPr>
            <a:r>
              <a:rPr lang="zh-CN" sz="1251" b="1">
                <a:solidFill>
                  <a:srgbClr val="3D55D9"/>
                </a:solidFill>
                <a:latin typeface="'PingFang SC'"/>
                <a:ea typeface="'PingFang SC'"/>
              </a:rPr>
              <a:t>被拒绝的提议带回原因，二次修正再校验</a:t>
            </a:r>
          </a:p>
        </p:txBody>
      </p:sp>
      <p:sp>
        <p:nvSpPr>
          <p:cNvPr id="36" name="roundRect 8"/>
          <p:cNvSpPr/>
          <p:nvPr/>
        </p:nvSpPr>
        <p:spPr>
          <a:xfrm>
            <a:off x="7645400" y="6375400"/>
            <a:ext cx="4089400" cy="355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w="12700">
            <a:solidFill>
              <a:srgbClr val="E4E8F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ellipse 8"/>
          <p:cNvSpPr/>
          <p:nvPr/>
        </p:nvSpPr>
        <p:spPr>
          <a:xfrm>
            <a:off x="7823200" y="6477000"/>
            <a:ext cx="152400" cy="152400"/>
          </a:xfrm>
          <a:prstGeom prst="ellipse">
            <a:avLst/>
          </a:prstGeom>
          <a:solidFill>
            <a:srgbClr val="4F6E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 20"/>
          <p:cNvSpPr/>
          <p:nvPr/>
        </p:nvSpPr>
        <p:spPr>
          <a:xfrm>
            <a:off x="8051800" y="6438900"/>
            <a:ext cx="1092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</a:pPr>
            <a:r>
              <a:rPr lang="zh-CN" sz="1300">
                <a:solidFill>
                  <a:srgbClr val="1D2433"/>
                </a:solidFill>
                <a:latin typeface="'PingFang SC'"/>
                <a:ea typeface="'PingFang SC'"/>
              </a:rPr>
              <a:t>拖拽即改排期</a:t>
            </a:r>
          </a:p>
        </p:txBody>
      </p:sp>
      <p:sp>
        <p:nvSpPr>
          <p:cNvPr id="39" name="ellipse 9"/>
          <p:cNvSpPr/>
          <p:nvPr/>
        </p:nvSpPr>
        <p:spPr>
          <a:xfrm>
            <a:off x="9194800" y="6477000"/>
            <a:ext cx="152400" cy="152400"/>
          </a:xfrm>
          <a:prstGeom prst="ellipse">
            <a:avLst/>
          </a:prstGeom>
          <a:solidFill>
            <a:srgbClr val="4F6E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 21"/>
          <p:cNvSpPr/>
          <p:nvPr/>
        </p:nvSpPr>
        <p:spPr>
          <a:xfrm>
            <a:off x="9423400" y="6438900"/>
            <a:ext cx="1092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</a:pPr>
            <a:r>
              <a:rPr lang="zh-CN" sz="1300">
                <a:solidFill>
                  <a:srgbClr val="1D2433"/>
                </a:solidFill>
                <a:latin typeface="'PingFang SC'"/>
                <a:ea typeface="'PingFang SC'"/>
              </a:rPr>
              <a:t>冲突高亮提醒</a:t>
            </a:r>
          </a:p>
        </p:txBody>
      </p:sp>
      <p:sp>
        <p:nvSpPr>
          <p:cNvPr id="41" name="rect 22"/>
          <p:cNvSpPr/>
          <p:nvPr/>
        </p:nvSpPr>
        <p:spPr>
          <a:xfrm>
            <a:off x="10210800" y="6451600"/>
            <a:ext cx="11684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90000"/>
              </a:lnSpc>
            </a:pPr>
            <a:r>
              <a:rPr lang="zh-CN" sz="1200">
                <a:solidFill>
                  <a:srgbClr val="8A94A8"/>
                </a:solidFill>
                <a:latin typeface="'PingFang SC'"/>
                <a:ea typeface="'PingFang SC'"/>
              </a:rPr>
              <a:t>翻页不重复提议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1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oundRect 1"/>
          <p:cNvSpPr/>
          <p:nvPr/>
        </p:nvSpPr>
        <p:spPr>
          <a:xfrm>
            <a:off x="457200" y="381000"/>
            <a:ext cx="2489200" cy="431800"/>
          </a:xfrm>
          <a:prstGeom prst="roundRect">
            <a:avLst>
              <a:gd fmla="val 50000" name="adj"/>
            </a:avLst>
          </a:prstGeom>
          <a:solidFill>
            <a:srgbClr val="E3E8F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 2"/>
          <p:cNvSpPr/>
          <p:nvPr/>
        </p:nvSpPr>
        <p:spPr>
          <a:xfrm>
            <a:off x="895350" y="469900"/>
            <a:ext cx="16129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zh-CN" sz="1500" b="1">
                <a:solidFill>
                  <a:srgbClr val="4F6EF7"/>
                </a:solidFill>
                <a:latin typeface="'PingFang SC'"/>
                <a:ea typeface="'PingFang SC'"/>
              </a:rPr>
              <a:t>真实演示 3 · 截图</a:t>
            </a:r>
          </a:p>
        </p:txBody>
      </p:sp>
      <p:sp>
        <p:nvSpPr>
          <p:cNvPr id="5" name="rect 3"/>
          <p:cNvSpPr/>
          <p:nvPr/>
        </p:nvSpPr>
        <p:spPr>
          <a:xfrm>
            <a:off x="457200" y="825500"/>
            <a:ext cx="9309100" cy="469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1000"/>
              </a:lnSpc>
            </a:pPr>
            <a:r>
              <a:rPr lang="zh-CN" sz="3100" b="1">
                <a:solidFill>
                  <a:srgbClr val="1D2433"/>
                </a:solidFill>
                <a:latin typeface="'PingFang SC'"/>
                <a:ea typeface="'PingFang SC'"/>
              </a:rPr>
              <a:t>不打开 App，日程自己出现；被硬塞时帮你体面说不</a:t>
            </a:r>
          </a:p>
        </p:txBody>
      </p:sp>
      <p:sp>
        <p:nvSpPr>
          <p:cNvPr id="6" name="rect 4"/>
          <p:cNvSpPr/>
          <p:nvPr/>
        </p:nvSpPr>
        <p:spPr>
          <a:xfrm>
            <a:off x="457200" y="1397000"/>
            <a:ext cx="55372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500">
                <a:solidFill>
                  <a:srgbClr val="66708A"/>
                </a:solidFill>
                <a:latin typeface="'PingFang SC'"/>
                <a:ea typeface="'PingFang SC'"/>
              </a:rPr>
              <a:t>微信 4.x 自动提取 · 智能挡箭牌 —— 同一份数据、同一条时间轴</a:t>
            </a:r>
          </a:p>
        </p:txBody>
      </p:sp>
      <p:sp>
        <p:nvSpPr>
          <p:cNvPr id="7" name="roundRect 2"/>
          <p:cNvSpPr/>
          <p:nvPr/>
        </p:nvSpPr>
        <p:spPr>
          <a:xfrm>
            <a:off x="457200" y="1905000"/>
            <a:ext cx="5969000" cy="4292600"/>
          </a:xfrm>
          <a:prstGeom prst="roundRect">
            <a:avLst>
              <a:gd fmla="val 4142" name="adj"/>
            </a:avLst>
          </a:prstGeom>
          <a:solidFill>
            <a:srgbClr val="FFFFFF"/>
          </a:solidFill>
          <a:ln w="12700">
            <a:solidFill>
              <a:srgbClr val="E4E8F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oundRect 3"/>
          <p:cNvSpPr/>
          <p:nvPr/>
        </p:nvSpPr>
        <p:spPr>
          <a:xfrm>
            <a:off x="457200" y="1905000"/>
            <a:ext cx="5969000" cy="63500"/>
          </a:xfrm>
          <a:prstGeom prst="roundRect">
            <a:avLst>
              <a:gd fmla="val 50000" name="adj"/>
            </a:avLst>
          </a:prstGeom>
          <a:solidFill>
            <a:srgbClr val="12A1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ellipse 1"/>
          <p:cNvSpPr/>
          <p:nvPr/>
        </p:nvSpPr>
        <p:spPr>
          <a:xfrm>
            <a:off x="622300" y="2146300"/>
            <a:ext cx="381000" cy="381000"/>
          </a:xfrm>
          <a:prstGeom prst="ellipse">
            <a:avLst/>
          </a:prstGeom>
          <a:solidFill>
            <a:srgbClr val="E5F6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 5"/>
          <p:cNvSpPr/>
          <p:nvPr/>
        </p:nvSpPr>
        <p:spPr>
          <a:xfrm>
            <a:off x="673100" y="2222500"/>
            <a:ext cx="2794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8000"/>
              </a:lnSpc>
            </a:pPr>
            <a:r>
              <a:rPr lang="zh-CN" sz="1400" b="1">
                <a:solidFill>
                  <a:srgbClr val="0B7A3D"/>
                </a:solidFill>
                <a:latin typeface="'PingFang SC'"/>
                <a:ea typeface="'PingFang SC'"/>
              </a:rPr>
              <a:t>微</a:t>
            </a:r>
          </a:p>
        </p:txBody>
      </p:sp>
      <p:sp>
        <p:nvSpPr>
          <p:cNvPr id="11" name="rect 6"/>
          <p:cNvSpPr/>
          <p:nvPr/>
        </p:nvSpPr>
        <p:spPr>
          <a:xfrm>
            <a:off x="1143000" y="2184400"/>
            <a:ext cx="13970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3000"/>
              </a:lnSpc>
            </a:pPr>
            <a:r>
              <a:rPr lang="zh-CN" sz="1700" b="1">
                <a:solidFill>
                  <a:srgbClr val="1D2433"/>
                </a:solidFill>
                <a:latin typeface="'PingFang SC'"/>
                <a:ea typeface="'PingFang SC'"/>
              </a:rPr>
              <a:t>微信自动提取</a:t>
            </a:r>
          </a:p>
        </p:txBody>
      </p:sp>
      <p:sp>
        <p:nvSpPr>
          <p:cNvPr id="12" name="roundRect 4"/>
          <p:cNvSpPr/>
          <p:nvPr/>
        </p:nvSpPr>
        <p:spPr>
          <a:xfrm>
            <a:off x="4191000" y="2197100"/>
            <a:ext cx="1905000" cy="304800"/>
          </a:xfrm>
          <a:prstGeom prst="roundRect">
            <a:avLst>
              <a:gd fmla="val 50000" name="adj"/>
            </a:avLst>
          </a:prstGeom>
          <a:solidFill>
            <a:srgbClr val="E5F6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 7"/>
          <p:cNvSpPr/>
          <p:nvPr/>
        </p:nvSpPr>
        <p:spPr>
          <a:xfrm>
            <a:off x="4508500" y="2235200"/>
            <a:ext cx="12700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6000"/>
              </a:lnSpc>
            </a:pPr>
            <a:r>
              <a:rPr lang="zh-CN" sz="1151" b="1">
                <a:solidFill>
                  <a:srgbClr val="0B7A3D"/>
                </a:solidFill>
                <a:latin typeface="'PingFang SC'"/>
                <a:ea typeface="'PingFang SC'"/>
              </a:rPr>
              <a:t>实时监听 · 已连接</a:t>
            </a:r>
          </a:p>
        </p:txBody>
      </p:sp>
      <p:sp>
        <p:nvSpPr>
          <p:cNvPr id="14" name="rect 8"/>
          <p:cNvSpPr/>
          <p:nvPr/>
        </p:nvSpPr>
        <p:spPr>
          <a:xfrm>
            <a:off x="711200" y="2641600"/>
            <a:ext cx="42291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351">
                <a:solidFill>
                  <a:srgbClr val="4A5468"/>
                </a:solidFill>
                <a:latin typeface="'PingFang SC'"/>
                <a:ea typeface="'PingFang SC'"/>
              </a:rPr>
              <a:t>· 转发到「文件传输助手」，或指定会话 / 监听全部会话</a:t>
            </a:r>
          </a:p>
        </p:txBody>
      </p:sp>
      <p:sp>
        <p:nvSpPr>
          <p:cNvPr id="15" name="rect 9"/>
          <p:cNvSpPr/>
          <p:nvPr/>
        </p:nvSpPr>
        <p:spPr>
          <a:xfrm>
            <a:off x="711200" y="2946400"/>
            <a:ext cx="4064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351">
                <a:solidFill>
                  <a:srgbClr val="4A5468"/>
                </a:solidFill>
                <a:latin typeface="'PingFang SC'"/>
                <a:ea typeface="'PingFang SC'"/>
              </a:rPr>
              <a:t>· 消息 ≥10 字且含时间 / 地点 / 安排线索才进入识别</a:t>
            </a:r>
          </a:p>
        </p:txBody>
      </p:sp>
      <p:sp>
        <p:nvSpPr>
          <p:cNvPr id="16" name="rect 10"/>
          <p:cNvSpPr/>
          <p:nvPr/>
        </p:nvSpPr>
        <p:spPr>
          <a:xfrm>
            <a:off x="711200" y="3251200"/>
            <a:ext cx="4140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351">
                <a:solidFill>
                  <a:srgbClr val="4A5468"/>
                </a:solidFill>
                <a:latin typeface="'PingFang SC'"/>
                <a:ea typeface="'PingFang SC'"/>
              </a:rPr>
              <a:t>· 加入监听时回读最近消息补档；重复内容按序号去重</a:t>
            </a:r>
          </a:p>
        </p:txBody>
      </p:sp>
      <p:sp>
        <p:nvSpPr>
          <p:cNvPr id="17" name="roundRect 5"/>
          <p:cNvSpPr/>
          <p:nvPr/>
        </p:nvSpPr>
        <p:spPr>
          <a:xfrm>
            <a:off x="711200" y="3632200"/>
            <a:ext cx="5461000" cy="241300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 w="12700">
            <a:solidFill>
              <a:srgbClr val="D7DC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oundRect 6"/>
          <p:cNvSpPr/>
          <p:nvPr/>
        </p:nvSpPr>
        <p:spPr>
          <a:xfrm>
            <a:off x="711200" y="3632200"/>
            <a:ext cx="5461000" cy="304800"/>
          </a:xfrm>
          <a:prstGeom prst="roundRect">
            <a:avLst>
              <a:gd fmla="val 41667" name="adj"/>
            </a:avLst>
          </a:prstGeom>
          <a:solidFill>
            <a:srgbClr val="F3F5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 11"/>
          <p:cNvSpPr/>
          <p:nvPr/>
        </p:nvSpPr>
        <p:spPr>
          <a:xfrm>
            <a:off x="914400" y="3683000"/>
            <a:ext cx="19812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151">
                <a:solidFill>
                  <a:srgbClr val="66708A"/>
                </a:solidFill>
                <a:latin typeface="'PingFang SC'"/>
                <a:ea typeface="'PingFang SC'"/>
              </a:rPr>
              <a:t>日程页 · 消息直接落进时间轴</a:t>
            </a:r>
          </a:p>
        </p:txBody>
      </p:sp>
      <p:pic>
        <p:nvPicPr>
          <p:cNvPr id="20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740" y="3987800"/>
            <a:ext cx="3169920" cy="1981200"/>
          </a:xfrm>
          <a:prstGeom prst="rect">
            <a:avLst/>
          </a:prstGeom>
        </p:spPr>
      </p:pic>
      <p:sp>
        <p:nvSpPr>
          <p:cNvPr id="21" name="roundRect 7"/>
          <p:cNvSpPr/>
          <p:nvPr/>
        </p:nvSpPr>
        <p:spPr>
          <a:xfrm>
            <a:off x="889000" y="4140200"/>
            <a:ext cx="2032000" cy="3048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w="19050">
            <a:solidFill>
              <a:srgbClr val="12A15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 12"/>
          <p:cNvSpPr/>
          <p:nvPr/>
        </p:nvSpPr>
        <p:spPr>
          <a:xfrm>
            <a:off x="1193800" y="4178300"/>
            <a:ext cx="14224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6000"/>
              </a:lnSpc>
            </a:pPr>
            <a:r>
              <a:rPr lang="zh-CN" sz="1151" b="1">
                <a:solidFill>
                  <a:srgbClr val="0B7A3D"/>
                </a:solidFill>
                <a:latin typeface="'PingFang SC'"/>
                <a:ea typeface="'PingFang SC'"/>
              </a:rPr>
              <a:t>微信来源 · 自动入库</a:t>
            </a:r>
          </a:p>
        </p:txBody>
      </p:sp>
      <p:sp>
        <p:nvSpPr>
          <p:cNvPr id="23" name="roundRect 8"/>
          <p:cNvSpPr/>
          <p:nvPr/>
        </p:nvSpPr>
        <p:spPr>
          <a:xfrm>
            <a:off x="6731000" y="1905000"/>
            <a:ext cx="5003800" cy="4292600"/>
          </a:xfrm>
          <a:prstGeom prst="roundRect">
            <a:avLst>
              <a:gd fmla="val 4142" name="adj"/>
            </a:avLst>
          </a:prstGeom>
          <a:solidFill>
            <a:srgbClr val="FFFFFF"/>
          </a:solidFill>
          <a:ln w="12700">
            <a:solidFill>
              <a:srgbClr val="E4E8F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roundRect 9"/>
          <p:cNvSpPr/>
          <p:nvPr/>
        </p:nvSpPr>
        <p:spPr>
          <a:xfrm>
            <a:off x="6731000" y="1905000"/>
            <a:ext cx="5003800" cy="63500"/>
          </a:xfrm>
          <a:prstGeom prst="roundRect">
            <a:avLst>
              <a:gd fmla="val 50000" name="adj"/>
            </a:avLst>
          </a:prstGeom>
          <a:solidFill>
            <a:srgbClr val="7B5C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ellipse 2"/>
          <p:cNvSpPr/>
          <p:nvPr/>
        </p:nvSpPr>
        <p:spPr>
          <a:xfrm>
            <a:off x="6896100" y="2146300"/>
            <a:ext cx="381000" cy="381000"/>
          </a:xfrm>
          <a:prstGeom prst="ellipse">
            <a:avLst/>
          </a:prstGeom>
          <a:solidFill>
            <a:srgbClr val="F1E8F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 13"/>
          <p:cNvSpPr/>
          <p:nvPr/>
        </p:nvSpPr>
        <p:spPr>
          <a:xfrm>
            <a:off x="6946900" y="2222500"/>
            <a:ext cx="2794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8000"/>
              </a:lnSpc>
            </a:pPr>
            <a:r>
              <a:rPr lang="zh-CN" sz="1400" b="1">
                <a:solidFill>
                  <a:srgbClr val="6D28D9"/>
                </a:solidFill>
                <a:latin typeface="'PingFang SC'"/>
                <a:ea typeface="'PingFang SC'"/>
              </a:rPr>
              <a:t>盾</a:t>
            </a:r>
          </a:p>
        </p:txBody>
      </p:sp>
      <p:sp>
        <p:nvSpPr>
          <p:cNvPr id="27" name="rect 14"/>
          <p:cNvSpPr/>
          <p:nvPr/>
        </p:nvSpPr>
        <p:spPr>
          <a:xfrm>
            <a:off x="7416800" y="2184400"/>
            <a:ext cx="11811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3000"/>
              </a:lnSpc>
            </a:pPr>
            <a:r>
              <a:rPr lang="zh-CN" sz="1700" b="1">
                <a:solidFill>
                  <a:srgbClr val="1D2433"/>
                </a:solidFill>
                <a:latin typeface="'PingFang SC'"/>
                <a:ea typeface="'PingFang SC'"/>
              </a:rPr>
              <a:t>智能挡箭牌</a:t>
            </a:r>
          </a:p>
        </p:txBody>
      </p:sp>
      <p:sp>
        <p:nvSpPr>
          <p:cNvPr id="28" name="rect 15"/>
          <p:cNvSpPr/>
          <p:nvPr/>
        </p:nvSpPr>
        <p:spPr>
          <a:xfrm>
            <a:off x="6985000" y="2641600"/>
            <a:ext cx="35433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351">
                <a:solidFill>
                  <a:srgbClr val="4A5468"/>
                </a:solidFill>
                <a:latin typeface="'PingFang SC'"/>
                <a:ea typeface="'PingFang SC'"/>
              </a:rPr>
              <a:t>粘贴外部硬塞的任务（团建 / 聚餐 / 临时活）</a:t>
            </a:r>
          </a:p>
        </p:txBody>
      </p:sp>
      <p:sp>
        <p:nvSpPr>
          <p:cNvPr id="29" name="rect 16"/>
          <p:cNvSpPr/>
          <p:nvPr/>
        </p:nvSpPr>
        <p:spPr>
          <a:xfrm>
            <a:off x="6985000" y="2946400"/>
            <a:ext cx="3175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351">
                <a:solidFill>
                  <a:srgbClr val="4A5468"/>
                </a:solidFill>
                <a:latin typeface="'PingFang SC'"/>
                <a:ea typeface="'PingFang SC'"/>
              </a:rPr>
              <a:t>→ 评估当前负载 → 生成三种回应话术：</a:t>
            </a:r>
          </a:p>
        </p:txBody>
      </p:sp>
      <p:sp>
        <p:nvSpPr>
          <p:cNvPr id="30" name="rect 17"/>
          <p:cNvSpPr/>
          <p:nvPr/>
        </p:nvSpPr>
        <p:spPr>
          <a:xfrm>
            <a:off x="6985000" y="3251200"/>
            <a:ext cx="4394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351">
                <a:solidFill>
                  <a:srgbClr val="4A5468"/>
                </a:solidFill>
                <a:latin typeface="'PingFang SC'"/>
                <a:ea typeface="'PingFang SC'"/>
              </a:rPr>
              <a:t>「婉拒 / 待定 / 接单」，一键复制；语气冷静、不制造焦虑</a:t>
            </a:r>
          </a:p>
        </p:txBody>
      </p:sp>
      <p:sp>
        <p:nvSpPr>
          <p:cNvPr id="31" name="roundRect 10"/>
          <p:cNvSpPr/>
          <p:nvPr/>
        </p:nvSpPr>
        <p:spPr>
          <a:xfrm>
            <a:off x="6985000" y="3632200"/>
            <a:ext cx="4495800" cy="1701800"/>
          </a:xfrm>
          <a:prstGeom prst="roundRect">
            <a:avLst>
              <a:gd fmla="val 7463" name="adj"/>
            </a:avLst>
          </a:prstGeom>
          <a:solidFill>
            <a:srgbClr val="F7F4FF"/>
          </a:solidFill>
          <a:ln w="12700">
            <a:solidFill>
              <a:srgbClr val="E6DCF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 18"/>
          <p:cNvSpPr/>
          <p:nvPr/>
        </p:nvSpPr>
        <p:spPr>
          <a:xfrm>
            <a:off x="7188200" y="3746500"/>
            <a:ext cx="901700" cy="190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4000"/>
              </a:lnSpc>
            </a:pPr>
            <a:r>
              <a:rPr lang="zh-CN" sz="1251" b="1">
                <a:solidFill>
                  <a:srgbClr val="5B3FD4"/>
                </a:solidFill>
                <a:latin typeface="'PingFang SC'"/>
                <a:ea typeface="'PingFang SC'"/>
              </a:rPr>
              <a:t>外部通知：</a:t>
            </a:r>
          </a:p>
        </p:txBody>
      </p:sp>
      <p:sp>
        <p:nvSpPr>
          <p:cNvPr id="33" name="rect 19"/>
          <p:cNvSpPr/>
          <p:nvPr/>
        </p:nvSpPr>
        <p:spPr>
          <a:xfrm>
            <a:off x="7188200" y="4000500"/>
            <a:ext cx="2959100" cy="190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4000"/>
              </a:lnSpc>
            </a:pPr>
            <a:r>
              <a:rPr lang="zh-CN" sz="1251">
                <a:solidFill>
                  <a:srgbClr val="4A5468"/>
                </a:solidFill>
                <a:latin typeface="'PingFang SC'"/>
                <a:ea typeface="'PingFang SC'"/>
              </a:rPr>
              <a:t>「周四晚部门聚餐，很重要，一定来啊！」</a:t>
            </a:r>
          </a:p>
        </p:txBody>
      </p:sp>
      <p:cxnSp>
        <p:nvCxnSpPr>
          <p:cNvPr id="34" name="line 1"/>
          <p:cNvCxnSpPr/>
          <p:nvPr/>
        </p:nvCxnSpPr>
        <p:spPr>
          <a:xfrm>
            <a:off x="7188200" y="4337050"/>
            <a:ext cx="4089400" cy="12700"/>
          </a:xfrm>
          <a:prstGeom prst="line">
            <a:avLst/>
          </a:prstGeom>
          <a:noFill/>
          <a:ln w="12700">
            <a:solidFill>
              <a:srgbClr val="E6DCFA"/>
            </a:solidFill>
          </a:ln>
        </p:spPr>
      </p:cxnSp>
      <p:sp>
        <p:nvSpPr>
          <p:cNvPr id="35" name="rect 20"/>
          <p:cNvSpPr/>
          <p:nvPr/>
        </p:nvSpPr>
        <p:spPr>
          <a:xfrm>
            <a:off x="7188200" y="4432300"/>
            <a:ext cx="901700" cy="190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4000"/>
              </a:lnSpc>
            </a:pPr>
            <a:r>
              <a:rPr lang="zh-CN" sz="1251" b="1">
                <a:solidFill>
                  <a:srgbClr val="5B3FD4"/>
                </a:solidFill>
                <a:latin typeface="'PingFang SC'"/>
                <a:ea typeface="'PingFang SC'"/>
              </a:rPr>
              <a:t>婉拒话术：</a:t>
            </a:r>
          </a:p>
        </p:txBody>
      </p:sp>
      <p:sp>
        <p:nvSpPr>
          <p:cNvPr id="36" name="rect 21"/>
          <p:cNvSpPr/>
          <p:nvPr/>
        </p:nvSpPr>
        <p:spPr>
          <a:xfrm>
            <a:off x="7188200" y="4686300"/>
            <a:ext cx="3352800" cy="190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4000"/>
              </a:lnSpc>
            </a:pPr>
            <a:r>
              <a:rPr lang="zh-CN" sz="1251">
                <a:solidFill>
                  <a:srgbClr val="4A5468"/>
                </a:solidFill>
                <a:latin typeface="'PingFang SC'"/>
                <a:ea typeface="'PingFang SC'"/>
              </a:rPr>
              <a:t>「这周任务真的排满了，怕赶不完反而拖后腿；</a:t>
            </a:r>
          </a:p>
        </p:txBody>
      </p:sp>
      <p:sp>
        <p:nvSpPr>
          <p:cNvPr id="37" name="rect 22"/>
          <p:cNvSpPr/>
          <p:nvPr/>
        </p:nvSpPr>
        <p:spPr>
          <a:xfrm>
            <a:off x="7188200" y="4940300"/>
            <a:ext cx="2247900" cy="190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4000"/>
              </a:lnSpc>
            </a:pPr>
            <a:r>
              <a:rPr lang="zh-CN" sz="1251">
                <a:solidFill>
                  <a:srgbClr val="4A5468"/>
                </a:solidFill>
                <a:latin typeface="'PingFang SC'"/>
                <a:ea typeface="'PingFang SC'"/>
              </a:rPr>
              <a:t>这次先请假，下次一定补上。」</a:t>
            </a:r>
          </a:p>
        </p:txBody>
      </p:sp>
      <p:sp>
        <p:nvSpPr>
          <p:cNvPr id="38" name="roundRect 11"/>
          <p:cNvSpPr/>
          <p:nvPr/>
        </p:nvSpPr>
        <p:spPr>
          <a:xfrm>
            <a:off x="6985000" y="5461000"/>
            <a:ext cx="4495800" cy="381000"/>
          </a:xfrm>
          <a:prstGeom prst="roundRect">
            <a:avLst>
              <a:gd fmla="val 26667" name="adj"/>
            </a:avLst>
          </a:prstGeom>
          <a:solidFill>
            <a:srgbClr val="F1E8F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 23"/>
          <p:cNvSpPr/>
          <p:nvPr/>
        </p:nvSpPr>
        <p:spPr>
          <a:xfrm>
            <a:off x="7734300" y="5549900"/>
            <a:ext cx="29972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zh-CN" sz="1200" b="1">
                <a:solidFill>
                  <a:srgbClr val="6D28D9"/>
                </a:solidFill>
                <a:latin typeface="'PingFang SC'"/>
                <a:ea typeface="'PingFang SC'"/>
              </a:rPr>
              <a:t>负载高时建议：先补完手上的，再答应别人</a:t>
            </a:r>
          </a:p>
        </p:txBody>
      </p:sp>
      <p:sp>
        <p:nvSpPr>
          <p:cNvPr id="40" name="rect 24"/>
          <p:cNvSpPr/>
          <p:nvPr/>
        </p:nvSpPr>
        <p:spPr>
          <a:xfrm>
            <a:off x="6985000" y="5905500"/>
            <a:ext cx="33020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200">
                <a:solidFill>
                  <a:srgbClr val="8A94A8"/>
                </a:solidFill>
                <a:latin typeface="'PingFang SC'"/>
                <a:ea typeface="'PingFang SC'"/>
              </a:rPr>
              <a:t>想说「不」时有底气，想接下时也只是一键的事</a:t>
            </a:r>
          </a:p>
        </p:txBody>
      </p:sp>
      <p:sp>
        <p:nvSpPr>
          <p:cNvPr id="41" name="roundRect 12"/>
          <p:cNvSpPr/>
          <p:nvPr/>
        </p:nvSpPr>
        <p:spPr>
          <a:xfrm>
            <a:off x="457200" y="6375400"/>
            <a:ext cx="11277600" cy="355600"/>
          </a:xfrm>
          <a:prstGeom prst="roundRect">
            <a:avLst>
              <a:gd fmla="val 50000" name="adj"/>
            </a:avLst>
          </a:prstGeom>
          <a:solidFill>
            <a:srgbClr val="1D24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 25"/>
          <p:cNvSpPr/>
          <p:nvPr/>
        </p:nvSpPr>
        <p:spPr>
          <a:xfrm>
            <a:off x="3086100" y="6438900"/>
            <a:ext cx="6019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zh-CN" sz="1351" b="1">
                <a:solidFill>
                  <a:srgbClr val="FFFFFF"/>
                </a:solidFill>
                <a:latin typeface="'PingFang SC'"/>
                <a:ea typeface="'PingFang SC'"/>
              </a:rPr>
              <a:t>闲聊消息只进活动日志、绝不污染日程——AI 调用前先预筛，省钱也保护隐私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1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oundRect 1"/>
          <p:cNvSpPr/>
          <p:nvPr/>
        </p:nvSpPr>
        <p:spPr>
          <a:xfrm>
            <a:off x="457200" y="381000"/>
            <a:ext cx="2235200" cy="431800"/>
          </a:xfrm>
          <a:prstGeom prst="roundRect">
            <a:avLst>
              <a:gd fmla="val 50000" name="adj"/>
            </a:avLst>
          </a:prstGeom>
          <a:solidFill>
            <a:srgbClr val="E3E8F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 2"/>
          <p:cNvSpPr/>
          <p:nvPr/>
        </p:nvSpPr>
        <p:spPr>
          <a:xfrm>
            <a:off x="952500" y="469900"/>
            <a:ext cx="1244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zh-CN" sz="1500" b="1">
                <a:solidFill>
                  <a:srgbClr val="4F6EF7"/>
                </a:solidFill>
                <a:latin typeface="'PingFang SC'"/>
                <a:ea typeface="'PingFang SC'"/>
              </a:rPr>
              <a:t>完成度与亮点</a:t>
            </a:r>
          </a:p>
        </p:txBody>
      </p:sp>
      <p:sp>
        <p:nvSpPr>
          <p:cNvPr id="5" name="rect 3"/>
          <p:cNvSpPr/>
          <p:nvPr/>
        </p:nvSpPr>
        <p:spPr>
          <a:xfrm>
            <a:off x="457200" y="812800"/>
            <a:ext cx="7416800" cy="482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1000"/>
              </a:lnSpc>
            </a:pPr>
            <a:r>
              <a:rPr lang="zh-CN" sz="3200" b="1">
                <a:solidFill>
                  <a:srgbClr val="1D2433"/>
                </a:solidFill>
                <a:latin typeface="'PingFang SC'"/>
                <a:ea typeface="'PingFang SC'"/>
              </a:rPr>
              <a:t>从零到全链路可用：这四天我们做了什么</a:t>
            </a:r>
          </a:p>
        </p:txBody>
      </p:sp>
      <p:sp>
        <p:nvSpPr>
          <p:cNvPr id="6" name="rect 4"/>
          <p:cNvSpPr/>
          <p:nvPr/>
        </p:nvSpPr>
        <p:spPr>
          <a:xfrm>
            <a:off x="457200" y="1397000"/>
            <a:ext cx="3911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500">
                <a:solidFill>
                  <a:srgbClr val="66708A"/>
                </a:solidFill>
                <a:latin typeface="'PingFang SC'"/>
                <a:ea typeface="'PingFang SC'"/>
              </a:rPr>
              <a:t>诚实盘点：哪些完成、边界在哪、下一步去哪</a:t>
            </a:r>
          </a:p>
        </p:txBody>
      </p:sp>
      <p:sp>
        <p:nvSpPr>
          <p:cNvPr id="7" name="roundRect 2"/>
          <p:cNvSpPr/>
          <p:nvPr/>
        </p:nvSpPr>
        <p:spPr>
          <a:xfrm>
            <a:off x="457200" y="1879600"/>
            <a:ext cx="6350000" cy="3708400"/>
          </a:xfrm>
          <a:prstGeom prst="roundRect">
            <a:avLst>
              <a:gd fmla="val 4795" name="adj"/>
            </a:avLst>
          </a:prstGeom>
          <a:solidFill>
            <a:srgbClr val="FFFFFF"/>
          </a:solidFill>
          <a:ln w="12700">
            <a:solidFill>
              <a:srgbClr val="E4E8F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 5"/>
          <p:cNvSpPr/>
          <p:nvPr/>
        </p:nvSpPr>
        <p:spPr>
          <a:xfrm>
            <a:off x="711200" y="2082800"/>
            <a:ext cx="24765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3000"/>
              </a:lnSpc>
            </a:pPr>
            <a:r>
              <a:rPr lang="zh-CN" sz="1700" b="1">
                <a:solidFill>
                  <a:srgbClr val="1D2433"/>
                </a:solidFill>
                <a:latin typeface="'PingFang SC'"/>
                <a:ea typeface="'PingFang SC'"/>
              </a:rPr>
              <a:t>本次完成（全部可复现）</a:t>
            </a:r>
          </a:p>
        </p:txBody>
      </p:sp>
      <p:sp>
        <p:nvSpPr>
          <p:cNvPr id="9" name="rect 6"/>
          <p:cNvSpPr/>
          <p:nvPr/>
        </p:nvSpPr>
        <p:spPr>
          <a:xfrm>
            <a:off x="711200" y="2552700"/>
            <a:ext cx="50165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</a:pPr>
            <a:r>
              <a:rPr lang="zh-CN" sz="1400">
                <a:solidFill>
                  <a:srgbClr val="3D4048"/>
                </a:solidFill>
                <a:latin typeface="'PingFang SC'"/>
                <a:ea typeface="'PingFang SC'"/>
              </a:rPr>
              <a:t>✓ python server.py 一行启动：纯标准库 + 原生前端，零安装</a:t>
            </a:r>
          </a:p>
        </p:txBody>
      </p:sp>
      <p:sp>
        <p:nvSpPr>
          <p:cNvPr id="10" name="rect 7"/>
          <p:cNvSpPr/>
          <p:nvPr/>
        </p:nvSpPr>
        <p:spPr>
          <a:xfrm>
            <a:off x="711200" y="2908300"/>
            <a:ext cx="45466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</a:pPr>
            <a:r>
              <a:rPr lang="zh-CN" sz="1400">
                <a:solidFill>
                  <a:srgbClr val="3D4048"/>
                </a:solidFill>
                <a:latin typeface="'PingFang SC'"/>
                <a:ea typeface="'PingFang SC'"/>
              </a:rPr>
              <a:t>✓ 对话提取 / 微信 4.x 监听 / AI 网关 / 画像与长期记忆 /</a:t>
            </a:r>
          </a:p>
        </p:txBody>
      </p:sp>
      <p:sp>
        <p:nvSpPr>
          <p:cNvPr id="11" name="rect 8"/>
          <p:cNvSpPr/>
          <p:nvPr/>
        </p:nvSpPr>
        <p:spPr>
          <a:xfrm>
            <a:off x="965200" y="3213100"/>
            <a:ext cx="42418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</a:pPr>
            <a:r>
              <a:rPr lang="zh-CN" sz="1400">
                <a:solidFill>
                  <a:srgbClr val="3D4048"/>
                </a:solidFill>
                <a:latin typeface="'PingFang SC'"/>
                <a:ea typeface="'PingFang SC'"/>
              </a:rPr>
              <a:t>能量排期 / 挡箭牌全链路跑通，AI 失败自动回退规则</a:t>
            </a:r>
          </a:p>
        </p:txBody>
      </p:sp>
      <p:sp>
        <p:nvSpPr>
          <p:cNvPr id="12" name="rect 9"/>
          <p:cNvSpPr/>
          <p:nvPr/>
        </p:nvSpPr>
        <p:spPr>
          <a:xfrm>
            <a:off x="711200" y="3568700"/>
            <a:ext cx="38227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</a:pPr>
            <a:r>
              <a:rPr lang="zh-CN" sz="1400">
                <a:solidFill>
                  <a:srgbClr val="3D4048"/>
                </a:solidFill>
                <a:latin typeface="'PingFang SC'"/>
                <a:ea typeface="'PingFang SC'"/>
              </a:rPr>
              <a:t>✓ 65 项单元 + 真实 HTTP 端到端测试全部通过</a:t>
            </a:r>
          </a:p>
        </p:txBody>
      </p:sp>
      <p:sp>
        <p:nvSpPr>
          <p:cNvPr id="13" name="rect 10"/>
          <p:cNvSpPr/>
          <p:nvPr/>
        </p:nvSpPr>
        <p:spPr>
          <a:xfrm>
            <a:off x="711200" y="3924300"/>
            <a:ext cx="42037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</a:pPr>
            <a:r>
              <a:rPr lang="zh-CN" sz="1400">
                <a:solidFill>
                  <a:srgbClr val="3D4048"/>
                </a:solidFill>
                <a:latin typeface="'PingFang SC'"/>
                <a:ea typeface="'PingFang SC'"/>
              </a:rPr>
              <a:t>✓ 数据与 API Key 只存本机 data/，可随时清空重置</a:t>
            </a:r>
          </a:p>
        </p:txBody>
      </p:sp>
      <p:sp>
        <p:nvSpPr>
          <p:cNvPr id="14" name="roundRect 3"/>
          <p:cNvSpPr/>
          <p:nvPr/>
        </p:nvSpPr>
        <p:spPr>
          <a:xfrm>
            <a:off x="711200" y="4368800"/>
            <a:ext cx="5842000" cy="1066800"/>
          </a:xfrm>
          <a:prstGeom prst="roundRect">
            <a:avLst>
              <a:gd fmla="val 11905" name="adj"/>
            </a:avLst>
          </a:prstGeom>
          <a:solidFill>
            <a:srgbClr val="FDF3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 11"/>
          <p:cNvSpPr/>
          <p:nvPr/>
        </p:nvSpPr>
        <p:spPr>
          <a:xfrm>
            <a:off x="914400" y="4495800"/>
            <a:ext cx="762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</a:pPr>
            <a:r>
              <a:rPr lang="zh-CN" sz="1300" b="1">
                <a:solidFill>
                  <a:srgbClr val="C07F14"/>
                </a:solidFill>
                <a:latin typeface="'PingFang SC'"/>
                <a:ea typeface="'PingFang SC'"/>
              </a:rPr>
              <a:t>诚实边界</a:t>
            </a:r>
          </a:p>
        </p:txBody>
      </p:sp>
      <p:sp>
        <p:nvSpPr>
          <p:cNvPr id="16" name="rect 12"/>
          <p:cNvSpPr/>
          <p:nvPr/>
        </p:nvSpPr>
        <p:spPr>
          <a:xfrm>
            <a:off x="914400" y="4787900"/>
            <a:ext cx="4229100" cy="190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4000"/>
              </a:lnSpc>
            </a:pPr>
            <a:r>
              <a:rPr lang="zh-CN" sz="1251">
                <a:solidFill>
                  <a:srgbClr val="8A6A2A"/>
                </a:solidFill>
                <a:latin typeface="'PingFang SC'"/>
                <a:ea typeface="'PingFang SC'"/>
              </a:rPr>
              <a:t>规则引擎擅长「带明确时间地点」的典型说法；复杂口语、</a:t>
            </a:r>
          </a:p>
        </p:txBody>
      </p:sp>
      <p:sp>
        <p:nvSpPr>
          <p:cNvPr id="17" name="rect 13"/>
          <p:cNvSpPr/>
          <p:nvPr/>
        </p:nvSpPr>
        <p:spPr>
          <a:xfrm>
            <a:off x="914400" y="5016500"/>
            <a:ext cx="3873500" cy="190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4000"/>
              </a:lnSpc>
            </a:pPr>
            <a:r>
              <a:rPr lang="zh-CN" sz="1251">
                <a:solidFill>
                  <a:srgbClr val="8A6A2A"/>
                </a:solidFill>
                <a:latin typeface="'PingFang SC'"/>
                <a:ea typeface="'PingFang SC'"/>
              </a:rPr>
              <a:t>群公告多行转发依赖可选 AI 分析——两条路都覆盖。</a:t>
            </a:r>
          </a:p>
        </p:txBody>
      </p:sp>
      <p:sp>
        <p:nvSpPr>
          <p:cNvPr id="18" name="rect 14"/>
          <p:cNvSpPr/>
          <p:nvPr/>
        </p:nvSpPr>
        <p:spPr>
          <a:xfrm>
            <a:off x="914400" y="5219700"/>
            <a:ext cx="54991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200">
                <a:solidFill>
                  <a:srgbClr val="8A6A2A"/>
                </a:solidFill>
                <a:latin typeface="'PingFang SC'"/>
                <a:ea typeface="'PingFang SC'"/>
              </a:rPr>
              <a:t>微信能力基于开源 wechatauto-replica（Apache-2.0），仅 Windows 桌面端。</a:t>
            </a:r>
          </a:p>
        </p:txBody>
      </p:sp>
      <p:sp>
        <p:nvSpPr>
          <p:cNvPr id="19" name="roundRect 4"/>
          <p:cNvSpPr/>
          <p:nvPr/>
        </p:nvSpPr>
        <p:spPr>
          <a:xfrm>
            <a:off x="7061200" y="1879600"/>
            <a:ext cx="4673600" cy="3708400"/>
          </a:xfrm>
          <a:prstGeom prst="roundRect">
            <a:avLst>
              <a:gd fmla="val 4795" name="adj"/>
            </a:avLst>
          </a:prstGeom>
          <a:solidFill>
            <a:srgbClr val="FFFFFF"/>
          </a:solidFill>
          <a:ln w="12700">
            <a:solidFill>
              <a:srgbClr val="E4E8F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oundRect 5"/>
          <p:cNvSpPr/>
          <p:nvPr/>
        </p:nvSpPr>
        <p:spPr>
          <a:xfrm>
            <a:off x="7061200" y="1879600"/>
            <a:ext cx="4673600" cy="63500"/>
          </a:xfrm>
          <a:prstGeom prst="roundRect">
            <a:avLst>
              <a:gd fmla="val 50000" name="adj"/>
            </a:avLst>
          </a:prstGeom>
          <a:gradFill rotWithShape="1">
            <a:gsLst>
              <a:gs pos="0">
                <a:srgbClr val="4F6EF7"/>
              </a:gs>
              <a:gs pos="100000">
                <a:srgbClr val="7B5CF0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 15"/>
          <p:cNvSpPr/>
          <p:nvPr/>
        </p:nvSpPr>
        <p:spPr>
          <a:xfrm>
            <a:off x="7315200" y="2082800"/>
            <a:ext cx="13970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3000"/>
              </a:lnSpc>
            </a:pPr>
            <a:r>
              <a:rPr lang="zh-CN" sz="1700" b="1">
                <a:solidFill>
                  <a:srgbClr val="1D2433"/>
                </a:solidFill>
                <a:latin typeface="'PingFang SC'"/>
                <a:ea typeface="'PingFang SC'"/>
              </a:rPr>
              <a:t>项目亮点 × 3</a:t>
            </a:r>
          </a:p>
        </p:txBody>
      </p:sp>
      <p:sp>
        <p:nvSpPr>
          <p:cNvPr id="22" name="ellipse 1"/>
          <p:cNvSpPr/>
          <p:nvPr/>
        </p:nvSpPr>
        <p:spPr>
          <a:xfrm>
            <a:off x="7340600" y="2540000"/>
            <a:ext cx="304800" cy="304800"/>
          </a:xfrm>
          <a:prstGeom prst="ellipse">
            <a:avLst/>
          </a:prstGeom>
          <a:solidFill>
            <a:srgbClr val="4F6E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 16"/>
          <p:cNvSpPr/>
          <p:nvPr/>
        </p:nvSpPr>
        <p:spPr>
          <a:xfrm>
            <a:off x="7397750" y="2590800"/>
            <a:ext cx="1905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3000"/>
              </a:lnSpc>
            </a:pPr>
            <a:r>
              <a:rPr lang="en-US" sz="1100" b="1">
                <a:solidFill>
                  <a:srgbClr val="FFFFFF"/>
                </a:solidFill>
                <a:latin typeface="'PingFang SC'"/>
                <a:ea typeface="'Microsoft YaHei'"/>
              </a:rPr>
              <a:t>1</a:t>
            </a:r>
          </a:p>
        </p:txBody>
      </p:sp>
      <p:sp>
        <p:nvSpPr>
          <p:cNvPr id="24" name="rect 17"/>
          <p:cNvSpPr/>
          <p:nvPr/>
        </p:nvSpPr>
        <p:spPr>
          <a:xfrm>
            <a:off x="7747000" y="2565400"/>
            <a:ext cx="25019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</a:pPr>
            <a:r>
              <a:rPr lang="zh-CN" sz="1451" b="1">
                <a:solidFill>
                  <a:srgbClr val="1D2433"/>
                </a:solidFill>
                <a:latin typeface="'PingFang SC'"/>
                <a:ea typeface="'PingFang SC'"/>
              </a:rPr>
              <a:t>先确认、再入库，决定权在你</a:t>
            </a:r>
          </a:p>
        </p:txBody>
      </p:sp>
      <p:sp>
        <p:nvSpPr>
          <p:cNvPr id="25" name="ellipse 2"/>
          <p:cNvSpPr/>
          <p:nvPr/>
        </p:nvSpPr>
        <p:spPr>
          <a:xfrm>
            <a:off x="7340600" y="3098800"/>
            <a:ext cx="304800" cy="304800"/>
          </a:xfrm>
          <a:prstGeom prst="ellipse">
            <a:avLst/>
          </a:prstGeom>
          <a:solidFill>
            <a:srgbClr val="7B5C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 18"/>
          <p:cNvSpPr/>
          <p:nvPr/>
        </p:nvSpPr>
        <p:spPr>
          <a:xfrm>
            <a:off x="7397750" y="3149600"/>
            <a:ext cx="1905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3000"/>
              </a:lnSpc>
            </a:pPr>
            <a:r>
              <a:rPr lang="en-US" sz="1100" b="1">
                <a:solidFill>
                  <a:srgbClr val="FFFFFF"/>
                </a:solidFill>
                <a:latin typeface="'PingFang SC'"/>
                <a:ea typeface="'Microsoft YaHei'"/>
              </a:rPr>
              <a:t>2</a:t>
            </a:r>
          </a:p>
        </p:txBody>
      </p:sp>
      <p:sp>
        <p:nvSpPr>
          <p:cNvPr id="27" name="rect 19"/>
          <p:cNvSpPr/>
          <p:nvPr/>
        </p:nvSpPr>
        <p:spPr>
          <a:xfrm>
            <a:off x="7747000" y="3124200"/>
            <a:ext cx="28956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</a:pPr>
            <a:r>
              <a:rPr lang="zh-CN" sz="1451" b="1">
                <a:solidFill>
                  <a:srgbClr val="1D2433"/>
                </a:solidFill>
                <a:latin typeface="'PingFang SC'"/>
                <a:ea typeface="'PingFang SC'"/>
              </a:rPr>
              <a:t>规则 + AI 双引擎：无 Key 全功能</a:t>
            </a:r>
          </a:p>
        </p:txBody>
      </p:sp>
      <p:sp>
        <p:nvSpPr>
          <p:cNvPr id="28" name="ellipse 3"/>
          <p:cNvSpPr/>
          <p:nvPr/>
        </p:nvSpPr>
        <p:spPr>
          <a:xfrm>
            <a:off x="7340600" y="3657600"/>
            <a:ext cx="304800" cy="304800"/>
          </a:xfrm>
          <a:prstGeom prst="ellipse">
            <a:avLst/>
          </a:prstGeom>
          <a:solidFill>
            <a:srgbClr val="12A1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 20"/>
          <p:cNvSpPr/>
          <p:nvPr/>
        </p:nvSpPr>
        <p:spPr>
          <a:xfrm>
            <a:off x="7397750" y="3708400"/>
            <a:ext cx="1905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3000"/>
              </a:lnSpc>
            </a:pPr>
            <a:r>
              <a:rPr lang="en-US" sz="1100" b="1">
                <a:solidFill>
                  <a:srgbClr val="FFFFFF"/>
                </a:solidFill>
                <a:latin typeface="'PingFang SC'"/>
                <a:ea typeface="'Microsoft YaHei'"/>
              </a:rPr>
              <a:t>3</a:t>
            </a:r>
          </a:p>
        </p:txBody>
      </p:sp>
      <p:sp>
        <p:nvSpPr>
          <p:cNvPr id="30" name="rect 21"/>
          <p:cNvSpPr/>
          <p:nvPr/>
        </p:nvSpPr>
        <p:spPr>
          <a:xfrm>
            <a:off x="7747000" y="3683000"/>
            <a:ext cx="30607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</a:pPr>
            <a:r>
              <a:rPr lang="zh-CN" sz="1451" b="1">
                <a:solidFill>
                  <a:srgbClr val="1D2433"/>
                </a:solidFill>
                <a:latin typeface="'PingFang SC'"/>
                <a:ea typeface="'PingFang SC'"/>
              </a:rPr>
              <a:t>画像 · 记忆 · 精力闭环，越用越懂你</a:t>
            </a:r>
          </a:p>
        </p:txBody>
      </p:sp>
      <p:sp>
        <p:nvSpPr>
          <p:cNvPr id="31" name="roundRect 6"/>
          <p:cNvSpPr/>
          <p:nvPr/>
        </p:nvSpPr>
        <p:spPr>
          <a:xfrm>
            <a:off x="7315200" y="4140200"/>
            <a:ext cx="4165600" cy="1193800"/>
          </a:xfrm>
          <a:prstGeom prst="roundRect">
            <a:avLst>
              <a:gd fmla="val 10638" name="adj"/>
            </a:avLst>
          </a:prstGeom>
          <a:solidFill>
            <a:srgbClr val="EEF2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 22"/>
          <p:cNvSpPr/>
          <p:nvPr/>
        </p:nvSpPr>
        <p:spPr>
          <a:xfrm>
            <a:off x="7518400" y="4267200"/>
            <a:ext cx="6223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zh-CN" sz="1351" b="1">
                <a:solidFill>
                  <a:srgbClr val="3D55D9"/>
                </a:solidFill>
                <a:latin typeface="'PingFang SC'"/>
                <a:ea typeface="'PingFang SC'"/>
              </a:rPr>
              <a:t>下一步</a:t>
            </a:r>
          </a:p>
        </p:txBody>
      </p:sp>
      <p:sp>
        <p:nvSpPr>
          <p:cNvPr id="33" name="rect 23"/>
          <p:cNvSpPr/>
          <p:nvPr/>
        </p:nvSpPr>
        <p:spPr>
          <a:xfrm>
            <a:off x="7518400" y="4584700"/>
            <a:ext cx="2336800" cy="190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4000"/>
              </a:lnSpc>
            </a:pPr>
            <a:r>
              <a:rPr lang="zh-CN" sz="1251">
                <a:solidFill>
                  <a:srgbClr val="4A5468"/>
                </a:solidFill>
                <a:latin typeface="'PingFang SC'"/>
                <a:ea typeface="'PingFang SC'"/>
              </a:rPr>
              <a:t>到期提醒（桌面 / 微信 / 邮件）</a:t>
            </a:r>
          </a:p>
        </p:txBody>
      </p:sp>
      <p:sp>
        <p:nvSpPr>
          <p:cNvPr id="34" name="rect 24"/>
          <p:cNvSpPr/>
          <p:nvPr/>
        </p:nvSpPr>
        <p:spPr>
          <a:xfrm>
            <a:off x="7518400" y="4838700"/>
            <a:ext cx="1968500" cy="190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4000"/>
              </a:lnSpc>
            </a:pPr>
            <a:r>
              <a:rPr lang="zh-CN" sz="1251">
                <a:solidFill>
                  <a:srgbClr val="4A5468"/>
                </a:solidFill>
                <a:latin typeface="'PingFang SC'"/>
                <a:ea typeface="'PingFang SC'"/>
              </a:rPr>
              <a:t>.ics 导出与课程表一键导入</a:t>
            </a:r>
          </a:p>
        </p:txBody>
      </p:sp>
      <p:sp>
        <p:nvSpPr>
          <p:cNvPr id="35" name="rect 25"/>
          <p:cNvSpPr/>
          <p:nvPr/>
        </p:nvSpPr>
        <p:spPr>
          <a:xfrm>
            <a:off x="7518400" y="5092700"/>
            <a:ext cx="1371600" cy="190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4000"/>
              </a:lnSpc>
            </a:pPr>
            <a:r>
              <a:rPr lang="zh-CN" sz="1251">
                <a:solidFill>
                  <a:srgbClr val="4A5468"/>
                </a:solidFill>
                <a:latin typeface="'PingFang SC'"/>
                <a:ea typeface="'PingFang SC'"/>
              </a:rPr>
              <a:t>多用户与云端同步</a:t>
            </a:r>
          </a:p>
        </p:txBody>
      </p:sp>
      <p:sp>
        <p:nvSpPr>
          <p:cNvPr id="36" name="roundRect 7"/>
          <p:cNvSpPr/>
          <p:nvPr/>
        </p:nvSpPr>
        <p:spPr>
          <a:xfrm>
            <a:off x="457200" y="5867400"/>
            <a:ext cx="11277600" cy="736600"/>
          </a:xfrm>
          <a:prstGeom prst="roundRect">
            <a:avLst>
              <a:gd fmla="val 24138" name="adj"/>
            </a:avLst>
          </a:prstGeom>
          <a:solidFill>
            <a:srgbClr val="1D24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 26"/>
          <p:cNvSpPr/>
          <p:nvPr/>
        </p:nvSpPr>
        <p:spPr>
          <a:xfrm>
            <a:off x="3854450" y="5943600"/>
            <a:ext cx="44831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3000"/>
              </a:lnSpc>
            </a:pPr>
            <a:r>
              <a:rPr lang="zh-CN" sz="1700" b="1">
                <a:solidFill>
                  <a:srgbClr val="FFFFFF"/>
                </a:solidFill>
                <a:latin typeface="'PingFang SC'"/>
                <a:ea typeface="'PingFang SC'"/>
              </a:rPr>
              <a:t>411 · 伴学计划　|　贺奕锴 · 孙若瑜 · 冯冠瑀</a:t>
            </a:r>
          </a:p>
        </p:txBody>
      </p:sp>
      <p:sp>
        <p:nvSpPr>
          <p:cNvPr id="38" name="rect 27"/>
          <p:cNvSpPr/>
          <p:nvPr/>
        </p:nvSpPr>
        <p:spPr>
          <a:xfrm>
            <a:off x="3041650" y="6299200"/>
            <a:ext cx="61087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2000"/>
              </a:lnSpc>
            </a:pPr>
            <a:r>
              <a:rPr lang="zh-CN" sz="1300">
                <a:solidFill>
                  <a:srgbClr val="C9D0F2"/>
                </a:solidFill>
                <a:latin typeface="'PingFang SC'"/>
                <a:ea typeface="'PingFang SC'"/>
              </a:rPr>
              <a:t>感谢聆听 · 欢迎提问 — 代码与说明：github.com/Whitefall2026/campus_agent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8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路演PPT</vt:lpstr>
    </vt:vector>
  </TitlesOfParts>
  <Company>Univer.ai</Company>
  <LinksUpToDate>false</LinksUpToDate>
  <SharedDoc>false</SharedDoc>
  <HyperlinksChanged>false</HyperlinksChanged>
  <AppVersion>16.0300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路演PPT</dc:title>
  <dc:creator>Univer.ai</dc:creator>
  <cp:lastModifiedBy>Univer.ai</cp:lastModifiedBy>
  <dcterms:created xsi:type="dcterms:W3CDTF">2026-01-01T00:00:00Z</dcterms:created>
  <dcterms:modified xsi:type="dcterms:W3CDTF">2026-01-01T00:00:00Z</dcterms:modified>
</cp:coreProperties>
</file>